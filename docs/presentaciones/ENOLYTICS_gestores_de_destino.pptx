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Cruceristas (índice, 100 = su mes máximo)</c:v>
                </c:pt>
              </c:strCache>
            </c:strRef>
          </c:tx>
          <c:spPr>
            <a:ln w="31750">
              <a:solidFill>
                <a:srgbClr val="EB6834"/>
              </a:solidFill>
            </a:ln>
          </c:spPr>
          <c:marker>
            <c:size val="7"/>
            <c:spPr>
              <a:solidFill>
                <a:srgbClr val="EB6834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</c:v>
                </c:pt>
                <c:pt idx="1">
                  <c:v>9</c:v>
                </c:pt>
                <c:pt idx="2">
                  <c:v>29</c:v>
                </c:pt>
                <c:pt idx="3">
                  <c:v>66</c:v>
                </c:pt>
                <c:pt idx="4">
                  <c:v>63</c:v>
                </c:pt>
                <c:pt idx="5">
                  <c:v>41</c:v>
                </c:pt>
                <c:pt idx="6">
                  <c:v>70</c:v>
                </c:pt>
                <c:pt idx="7">
                  <c:v>68</c:v>
                </c:pt>
                <c:pt idx="8">
                  <c:v>84</c:v>
                </c:pt>
                <c:pt idx="9">
                  <c:v>100</c:v>
                </c:pt>
                <c:pt idx="10">
                  <c:v>85</c:v>
                </c:pt>
                <c:pt idx="11">
                  <c:v>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Afluencia enoturística (índice; estimación)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ize val="7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38</c:v>
                </c:pt>
                <c:pt idx="1">
                  <c:v>44</c:v>
                </c:pt>
                <c:pt idx="2">
                  <c:v>57</c:v>
                </c:pt>
                <c:pt idx="3">
                  <c:v>60</c:v>
                </c:pt>
                <c:pt idx="4">
                  <c:v>62</c:v>
                </c:pt>
                <c:pt idx="5">
                  <c:v>60</c:v>
                </c:pt>
                <c:pt idx="6">
                  <c:v>68</c:v>
                </c:pt>
                <c:pt idx="7">
                  <c:v>100</c:v>
                </c:pt>
                <c:pt idx="8">
                  <c:v>77</c:v>
                </c:pt>
                <c:pt idx="9">
                  <c:v>75</c:v>
                </c:pt>
                <c:pt idx="10">
                  <c:v>54</c:v>
                </c:pt>
                <c:pt idx="11">
                  <c:v>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CCBC"/>
            </a:solidFill>
          </a:ln>
        </c:spPr>
        <c:txPr>
          <a:bodyPr/>
          <a:lstStyle/>
          <a:p>
            <a:pPr>
              <a:defRPr sz="1100">
                <a:solidFill>
                  <a:srgbClr val="8B877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4E0D6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3CCBC"/>
            </a:solidFill>
          </a:ln>
        </c:spPr>
        <c:txPr>
          <a:bodyPr/>
          <a:lstStyle/>
          <a:p>
            <a:pPr>
              <a:defRPr sz="1100">
                <a:solidFill>
                  <a:srgbClr val="8B877E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5754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C1B19"/>
                </a:solidFill>
                <a:latin typeface="Calibri"/>
              </a:rPr>
              <a:t>Búsquedas de vuelo a Jerez desde países sin un solo asiento directo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Búsquedas de vuelo</c:v>
                </c:pt>
              </c:strCache>
            </c:strRef>
          </c:tx>
          <c:spPr>
            <a:solidFill>
              <a:srgbClr val="C9C5BA"/>
            </a:solidFill>
          </c:spPr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Sheet1!$A$2:$A$5</c:f>
              <c:strCache>
                <c:ptCount val="4"/>
                <c:pt idx="0">
                  <c:v>Italia</c:v>
                </c:pt>
                <c:pt idx="1">
                  <c:v>Estados Unidos</c:v>
                </c:pt>
                <c:pt idx="2">
                  <c:v>Francia</c:v>
                </c:pt>
                <c:pt idx="3">
                  <c:v>Países Bajos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633809</c:v>
                </c:pt>
                <c:pt idx="1">
                  <c:v>621324</c:v>
                </c:pt>
                <c:pt idx="2">
                  <c:v>590577</c:v>
                </c:pt>
                <c:pt idx="3">
                  <c:v>421559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3CCBC"/>
            </a:solidFill>
          </a:ln>
        </c:spPr>
        <c:txPr>
          <a:bodyPr/>
          <a:lstStyle/>
          <a:p>
            <a:pPr>
              <a:defRPr sz="1100">
                <a:solidFill>
                  <a:srgbClr val="8B87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3CCBC"/>
            </a:solidFill>
          </a:ln>
        </c:spPr>
        <c:txPr>
          <a:bodyPr/>
          <a:lstStyle/>
          <a:p>
            <a:pPr>
              <a:defRPr sz="1100">
                <a:solidFill>
                  <a:srgbClr val="8B877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754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Audiencia: gestores de destino. En una frase, lo que se viene a contar: hemos construido una</a:t>
            </a:r>
          </a:p>
          <a:p>
            <a:r>
              <a:t>herramienta que ya funciona sobre el Marco de Jerez, y lo que hace se puede replicar en otro</a:t>
            </a:r>
          </a:p>
          <a:p>
            <a:r>
              <a:t>destino.</a:t>
            </a:r>
          </a:p>
          <a:p>
            <a:r>
              <a:t>Subrayar desde el principio el argumento que más les va a interesar: NO hemos pedido datos a las</a:t>
            </a:r>
          </a:p>
          <a:p>
            <a:r>
              <a:t>bodegas. Todo sale de fuentes públicas. Eso elimina la barrera habitual de estos proyectos.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Diagnóstico sin reproche: no es que los gestores decidan mal, es que no había otra información</a:t>
            </a:r>
          </a:p>
          <a:p>
            <a:r>
              <a:t>disponible. La estadística oficial es imprescindible pero llega agregada y con retraso.</a:t>
            </a:r>
          </a:p>
          <a:p>
            <a:r>
              <a:t>El dato de los 40,4 € frente a 70,0 € suele ser el que capta la atención: es una brecha de</a:t>
            </a:r>
          </a:p>
          <a:p>
            <a:r>
              <a:t>monetización, no de volumen. Guardarlo porque reaparece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tres viñetas son las tres objeciones habituales, contestadas antes de que se formulen:</a:t>
            </a:r>
          </a:p>
          <a:p>
            <a:r>
              <a:t>«¿esto se queda obsoleto?», «¿tengo que convencer a las bodegas para que aporten datos?» y</a:t>
            </a:r>
          </a:p>
          <a:p>
            <a:r>
              <a:t>«¿me fío de lo que dice?».</a:t>
            </a:r>
          </a:p>
          <a:p>
            <a:r>
              <a:t>Ofrecer abrirlo en directo al final si hay tiempo y conexión.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leer la tabla entera: señalar dos filas. Recomiendo «Clientes» (porque es la que sorprende, por</a:t>
            </a:r>
          </a:p>
          <a:p>
            <a:r>
              <a:t>el volumen de opiniones) y «Sostenibilidad» (porque es la aportación del proyecto y porque conecta</a:t>
            </a:r>
          </a:p>
          <a:p>
            <a:r>
              <a:t>con las obligaciones que ya tienen los destinos).</a:t>
            </a:r>
          </a:p>
          <a:p>
            <a:r>
              <a:t>Si preguntan por SEGITTUR: los indicadores se organizan en oferta, demanda y sostenibilidad, las</a:t>
            </a:r>
          </a:p>
          <a:p>
            <a:r>
              <a:t>tres categorías del modelo DTI. La UNE 178502 es la norma que lo formaliza.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lámina compra la credibilidad del resto. Dedicarle tiempo.</a:t>
            </a:r>
          </a:p>
          <a:p>
            <a:r>
              <a:t>El ámbar es el punto fuerte del discurso: reconocer lo que es cálculo propio distingue un análisis</a:t>
            </a:r>
          </a:p>
          <a:p>
            <a:r>
              <a:t>de un folleto.</a:t>
            </a:r>
          </a:p>
          <a:p>
            <a:r>
              <a:t>Si preguntan por protección de datos: son reseñas públicas, el nombre del autor no interviene en</a:t>
            </a:r>
          </a:p>
          <a:p>
            <a:r>
              <a:t>ningún análisis y se trabaja con textos agregados por bodega y atributo, nunca con personas.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ejemplo de las reseñas sin responder funciona muy bien con gestores: es una acción de coste cero</a:t>
            </a:r>
          </a:p>
          <a:p>
            <a:r>
              <a:t>sobre la que pueden actuar mañana, y es medible.</a:t>
            </a:r>
          </a:p>
          <a:p>
            <a:r>
              <a:t>Si preguntan: la plataforma genera 14 recomendaciones para el destino y recomendaciones específicas</a:t>
            </a:r>
          </a:p>
          <a:p>
            <a:r>
              <a:t>para cada bodega.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Declarar que la curva azul es una estimación antes de que lo pregunten: no existe afluencia mensual</a:t>
            </a:r>
          </a:p>
          <a:p>
            <a:r>
              <a:t>publicada por bodega.</a:t>
            </a:r>
          </a:p>
          <a:p>
            <a:r>
              <a:t>El mensaje de fondo: este hallazgo no está en ninguna reseña ni en ningún informe. Sale de poner dos</a:t>
            </a:r>
          </a:p>
          <a:p>
            <a:r>
              <a:t>ficheros públicos uno al lado del otro. Eso es lo que hace la plataforma de forma sistemática.</a:t>
            </a:r>
          </a:p>
          <a:p>
            <a:r>
              <a:t>Para un gestor, además, conecta con la prioridad de desestacionalización que ya tiene en su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dato con más valor político para un gestor: convierte «creemos que hay demanda» en «hay</a:t>
            </a:r>
          </a:p>
          <a:p>
            <a:r>
              <a:t>3,25 millones de búsquedas y cero asientos», que es lo que se puede llevar a una mesa de negociación</a:t>
            </a:r>
          </a:p>
          <a:p>
            <a:r>
              <a:t>de rutas aéreas con una aerolínea o con el aeropuerto.</a:t>
            </a:r>
          </a:p>
          <a:p>
            <a:r>
              <a:t>Ofrecerles los datos: están por país, por mes y con antelación de 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un patronato o una ruta del vino, esta lámina responde a «¿y esto qué les doy yo a mis</a:t>
            </a:r>
          </a:p>
          <a:p>
            <a:r>
              <a:t>empresas?». El informe de una página es tangible: se descarga y se entrega.</a:t>
            </a:r>
          </a:p>
          <a:p>
            <a:r>
              <a:t>Si hay tiempo en la demo, descargar uno en directo. Es el momento que más engancha.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de apoyo: no leerla entera. Señalar tres cosas y pasar:</a:t>
            </a:r>
          </a:p>
          <a:p>
            <a:r>
              <a:t>1) Sin licencias ni instalación: se abre en un navegador.</a:t>
            </a:r>
          </a:p>
          <a:p>
            <a:r>
              <a:t>2) El coste recurrente es ridículo comparado con cualquier plataforma comercial de inteligencia</a:t>
            </a:r>
          </a:p>
          <a:p>
            <a:r>
              <a:t>   turística.</a:t>
            </a:r>
          </a:p>
          <a:p>
            <a:r>
              <a:t>3) No hay IA generativa escribiendo conclusiones, que es la pregunta de 2026.</a:t>
            </a:r>
          </a:p>
          <a:p>
            <a:r>
              <a:t>Si hay un técnico en la sala, ofrecerle el repositorio: el código es abierto.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Honestidad sobre el estado: estamos a mitad del proyecto. Para un gestor interesado, eso significa</a:t>
            </a:r>
          </a:p>
          <a:p>
            <a:r>
              <a:t>que todavía se puede influir en qué indicadores se priorizan.</a:t>
            </a:r>
          </a:p>
          <a:p>
            <a:r>
              <a:t>No prometer plazos ni compromisos de despliegue en su destino: la conversación de hoy es de</a:t>
            </a:r>
          </a:p>
          <a:p>
            <a:r>
              <a:t>conocimiento mutuo. Si hay interés real, se canaliza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Preguntas probables:</a:t>
            </a:r>
          </a:p>
          <a:p>
            <a:r>
              <a:t>· «¿Cuánto cuesta?» → el prototipo corre sobre software libre y servidor gratuito; el coste real es</a:t>
            </a:r>
          </a:p>
          <a:p>
            <a:r>
              <a:t>  la actualización del corpus de reseñas, decenas de euros al año. El coste verdadero es el tiempo</a:t>
            </a:r>
          </a:p>
          <a:p>
            <a:r>
              <a:t>  de quien lo mantiene y lo interpreta.</a:t>
            </a:r>
          </a:p>
          <a:p>
            <a:r>
              <a:t>· «¿Puede ver una bodega los datos de otra?» → sí, y es una decisión consciente: sin comparación no</a:t>
            </a:r>
          </a:p>
          <a:p>
            <a:r>
              <a:t>  hay inteligencia competitiva. Todo lo que se muestra es público.</a:t>
            </a:r>
          </a:p>
          <a:p>
            <a:r>
              <a:t>· «¿Sirve para un destino que no sea de vino?» → el método sí; el léxico de atributos habría que</a:t>
            </a:r>
          </a:p>
          <a:p>
            <a:r>
              <a:t>  reconstruirlo para ese sector.</a:t>
            </a:r>
          </a:p>
          <a:p>
            <a:r>
              <a:t>· «¿Y la protección de datos?» → reseñas públicas, análisis agregados, el autor no interviene.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6793992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6793992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6793992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6793992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BD98A"/>
                </a:solidFill>
                <a:latin typeface="Calibri"/>
              </a:rPr>
              <a:t>PROYECTO ENOLYTICS · MARCO DE JEREZ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6EFE3"/>
                </a:solidFill>
                <a:latin typeface="Georgia"/>
              </a:rPr>
              <a:t>Inteligencia competitiva para la gestión de un destino enoturístico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7588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BEAC"/>
                </a:solidFill>
                <a:latin typeface="Calibri"/>
              </a:rPr>
              <a:t>Una plataforma que convierte datos públicos —reseñas, estadística oficial, webs— en decisiones para el destino y para cada bodega. Sin pedir un solo dato a las empresas.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6EFE3"/>
                </a:solidFill>
                <a:latin typeface="Calibri"/>
              </a:rPr>
              <a:t>ENOLYTICS · Universidad de Cádiz · proyecto FEDER Andalucía 2021-2027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F6EFE3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94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BEAC"/>
                </a:solidFill>
                <a:latin typeface="Calibri"/>
              </a:rPr>
              <a:t>Universidad de Cádiz · Instituto INDESS
IP: María Paula Lechuga Sancho · Co-IP: Antonio Rafael Ramos Rodríguez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EL PUNTO DE PARTIDA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Con qué información se decide hoy en un destino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proyecto FEDER Andalucía 2021-2027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63624"/>
            <a:ext cx="3454298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LO QUE SÍ HAY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984248"/>
            <a:ext cx="3088538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Estadística agregada anual: visitantes, ingresos, perfil de la demanda. Llega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tarde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y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no baja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al nivel de decisión: qué falla, en qué bodega, en qué 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8698" y="1563624"/>
            <a:ext cx="3454298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9866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LO QUE FALTA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9866" y="1984248"/>
            <a:ext cx="3088538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Qué opina realmente el visitante, atributo por atributo. Cómo va el destino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frente a otras rutas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. Qué oportunidades hay fuera del radar habitual.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1596" y="1563624"/>
            <a:ext cx="3454298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1596" y="1563624"/>
            <a:ext cx="54864" cy="173736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2764" y="170992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Y EL DATO EXISTE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2764" y="1984248"/>
            <a:ext cx="3088538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Hay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decenas de miles de opiniones públicas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sobre las bodegas del destino, y estadística oficial abierta que nadie estaba cruzando entre sí.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75304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500" i="0" b="0">
                <a:solidFill>
                  <a:srgbClr val="57544E"/>
                </a:solidFill>
                <a:latin typeface="Calibri"/>
              </a:rPr>
              <a:t>El sector enoturístico crece —</a:t>
            </a:r>
            <a:r>
              <a:rPr sz="1500" i="0" b="1">
                <a:solidFill>
                  <a:srgbClr val="1C1B19"/>
                </a:solidFill>
                <a:latin typeface="Calibri"/>
              </a:rPr>
              <a:t>2,98 millones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 de visitantes a bodegas y museos en España, </a:t>
            </a:r>
            <a:r>
              <a:rPr sz="1500" i="0" b="1">
                <a:solidFill>
                  <a:srgbClr val="1C1B19"/>
                </a:solidFill>
                <a:latin typeface="Calibri"/>
              </a:rPr>
              <a:t>+18,2 %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 en un año— y con el crecimiento llega la necesidad de diferenciarse.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500" i="0" b="0">
                <a:solidFill>
                  <a:srgbClr val="57544E"/>
                </a:solidFill>
                <a:latin typeface="Calibri"/>
              </a:rPr>
              <a:t>El Marco de Jerez está entre las </a:t>
            </a:r>
            <a:r>
              <a:rPr sz="1500" i="0" b="1">
                <a:solidFill>
                  <a:srgbClr val="1C1B19"/>
                </a:solidFill>
                <a:latin typeface="Calibri"/>
              </a:rPr>
              <a:t>tres rutas más visitadas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 de España: </a:t>
            </a:r>
            <a:r>
              <a:rPr sz="1500" i="0" b="1">
                <a:solidFill>
                  <a:srgbClr val="1C1B19"/>
                </a:solidFill>
                <a:latin typeface="Calibri"/>
              </a:rPr>
              <a:t>425.652 visitantes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 y </a:t>
            </a:r>
            <a:r>
              <a:rPr sz="1500" i="0" b="1">
                <a:solidFill>
                  <a:srgbClr val="1C1B19"/>
                </a:solidFill>
                <a:latin typeface="Calibri"/>
              </a:rPr>
              <a:t>17,2 M€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 de ingresos en 2024.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500" i="0" b="0">
                <a:solidFill>
                  <a:srgbClr val="57544E"/>
                </a:solidFill>
                <a:latin typeface="Calibri"/>
              </a:rPr>
              <a:t>Pero crecer en volumen no es lo mismo que </a:t>
            </a:r>
            <a:r>
              <a:rPr sz="1500" i="0" b="1">
                <a:solidFill>
                  <a:srgbClr val="1C1B19"/>
                </a:solidFill>
                <a:latin typeface="Calibri"/>
              </a:rPr>
              <a:t>captar valor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: el Marco ingresa </a:t>
            </a:r>
            <a:r>
              <a:rPr sz="1500" i="0" b="1">
                <a:solidFill>
                  <a:srgbClr val="1C1B19"/>
                </a:solidFill>
                <a:latin typeface="Calibri"/>
              </a:rPr>
              <a:t>40,4 € por visitante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, frente a los </a:t>
            </a:r>
            <a:r>
              <a:rPr sz="1500" i="0" b="1">
                <a:solidFill>
                  <a:srgbClr val="1C1B19"/>
                </a:solidFill>
                <a:latin typeface="Calibri"/>
              </a:rPr>
              <a:t>70,0 €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 de la ruta líder.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Fuentes: ACEVIN, Observatorio Turístico de las Rutas del Vino de España (2023, 2024).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LA HERRAMIENTA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Qué es ENOLYTICS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Un cuadro de mando web que ya está funcionando sobre las 42 bodegas del Marco de Jerez.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proyecto FEDER Andalucía 2021-2027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12264"/>
            <a:ext cx="5181447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112264"/>
            <a:ext cx="54864" cy="182880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25856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PARA QUIEN GESTIONA EL DESTINO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532888"/>
            <a:ext cx="4815687" cy="1271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Cómo va el destino en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siete dimensiones competitivas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, dónde están las fugas de valor y qué acciones priorizar. Con un semáforo de situación y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14 recomendaciones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ordenadas por urgencia, cada una con el dato que la justifica.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447" y="2112264"/>
            <a:ext cx="5181447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5615" y="225856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PARA CADA EMPRESA DEL DESTINO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615" y="2532888"/>
            <a:ext cx="4815687" cy="1271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Su reputación en detalle,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quiénes son sus competidores directos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—no las 41 bodegas, sino tres o cuatro—, sus puntos fuertes y débiles, y un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informe de una página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descargable, pensado para entregárselo.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15384"/>
            <a:ext cx="1082009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900"/>
              </a:spcAft>
              <a:buChar char="•"/>
            </a:pPr>
            <a:r>
              <a:rPr sz="1500" i="0" b="1">
                <a:solidFill>
                  <a:srgbClr val="1C1B19"/>
                </a:solidFill>
                <a:latin typeface="Calibri"/>
              </a:rPr>
              <a:t>Está vivo, no es un informe.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 Se abre en el navegador y los datos se actualizan; no es una foto de un mes concreto.</a:t>
            </a:r>
          </a:p>
          <a:p>
            <a:pPr marL="201168" indent="-201168">
              <a:spcAft>
                <a:spcPts val="900"/>
              </a:spcAft>
              <a:buChar char="•"/>
            </a:pPr>
            <a:r>
              <a:rPr sz="1500" i="0" b="1">
                <a:solidFill>
                  <a:srgbClr val="1C1B19"/>
                </a:solidFill>
                <a:latin typeface="Calibri"/>
              </a:rPr>
              <a:t>No pide nada a las empresas.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 Se alimenta de fuentes públicas: eso permite tener el análisis del destino completo desde el primer día, sin esperar a que nadie rellene un cuestionario.</a:t>
            </a:r>
          </a:p>
          <a:p>
            <a:pPr marL="201168" indent="-201168">
              <a:spcAft>
                <a:spcPts val="900"/>
              </a:spcAft>
              <a:buChar char="•"/>
            </a:pPr>
            <a:r>
              <a:rPr sz="1500" i="0" b="1">
                <a:solidFill>
                  <a:srgbClr val="1C1B19"/>
                </a:solidFill>
                <a:latin typeface="Calibri"/>
              </a:rPr>
              <a:t>Dice lo que no sabe.</a:t>
            </a:r>
            <a:r>
              <a:rPr sz="1500" i="0" b="0">
                <a:solidFill>
                  <a:srgbClr val="57544E"/>
                </a:solidFill>
                <a:latin typeface="Calibri"/>
              </a:rPr>
              <a:t> Cuando no hay muestra suficiente para afirmar algo, lo declara en vez de rellenar el hueco.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532120"/>
            <a:ext cx="10820095" cy="1905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41848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1B19"/>
                </a:solidFill>
                <a:latin typeface="Georgia"/>
              </a:rPr>
              <a:t>Está publicado y es accesible hoy: enolytics-feder-uca.streamlit.app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EL MODELO DE ANÁLISIS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Siete dimensiones, un solo cuadro de mando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El marco de inteligencia competitiva del proyecto, alineado con el modelo de Destinos Turísticos Inteligentes de SEGITTUR y la norma UNE 178502.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proyecto FEDER Andalucía 2021-2027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4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2112264"/>
          <a:ext cx="1081735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480560"/>
                <a:gridCol w="459943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Dimensión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Qué responde para el destino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Ejemplo de lo que ya calcula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Económica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¿Cuánto valor capta el destino por visitante?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Ingreso por visitante y brecha con otras rutas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Mercado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¿Quién nos busca y desde dónde?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Interés de búsqueda y demanda aérea no atendida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Competidores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¿Cómo estamos frente a otros destinos?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Posición en el ranking de rutas y reputación comparada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Clientes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¿Qué valora y qué critica el visitante?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Satisfacción por atributo sobre 10.972 opiniones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Negocios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¿Qué oferta y qué capacidad hay?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Censo de bodegas, servicios y oferta enoturística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Tecnológica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¿Qué madurez digital y accesibilidad tiene la oferta?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C1B19"/>
                          </a:solidFill>
                          <a:latin typeface="Calibri"/>
                        </a:rPr>
                        <a:t>Índice digital por bodega y barreras de accesibilidad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1B19"/>
                          </a:solidFill>
                          <a:latin typeface="Calibri"/>
                        </a:rPr>
                        <a:t>Sostenibilidad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1B19"/>
                          </a:solidFill>
                          <a:latin typeface="Calibri"/>
                        </a:rPr>
                        <a:t>¿Cómo de sostenible es la actividad?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C1B19"/>
                          </a:solidFill>
                          <a:latin typeface="Calibri"/>
                        </a:rPr>
                        <a:t>Certificación ambiental y acceso en transporte público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5800" y="5312664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7544E"/>
                </a:solidFill>
                <a:latin typeface="Calibri"/>
              </a:rPr>
              <a:t>La dimensión de sostenibilidad es la aportación propia del proyecto: tratarla como una fuente de inteligencia más, no como un apartado del informe anual.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FUENTES Y TRANSPARENCIA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De dónde sale cada dato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Cada cifra de la plataforma lleva una marca que dice cómo de firme es. Nunca se mezcla estadística oficial con una estimación.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proyecto FEDER Andalucía 2021-2027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12264"/>
            <a:ext cx="345429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112264"/>
            <a:ext cx="54864" cy="228600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258568"/>
            <a:ext cx="29970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CA30C"/>
                </a:solidFill>
                <a:latin typeface="Calibri"/>
              </a:rPr>
              <a:t>DATO OFICIAL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69464"/>
            <a:ext cx="299709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ACEVIN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— visitantes, ingresos, oferta y perfil de la demanda por ruta.</a:t>
            </a:r>
          </a:p>
          <a:p>
            <a:pPr>
              <a:spcAft>
                <a:spcPts val="60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Dataestur / SEGITTUR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— gasto turístico, percepción, cruceros y conectividad aérea.</a:t>
            </a:r>
          </a:p>
          <a:p>
            <a:pPr>
              <a:spcAft>
                <a:spcPts val="60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FEV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— certificación ambiental de bodegas.</a:t>
            </a:r>
          </a:p>
          <a:p>
            <a:pPr>
              <a:spcAft>
                <a:spcPts val="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Ruta del Vino y Brandy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— catálogo de las 42 bodegas.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8698" y="2112264"/>
            <a:ext cx="345429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8698" y="2112264"/>
            <a:ext cx="54864" cy="2286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7298" y="2258568"/>
            <a:ext cx="29970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A78D6"/>
                </a:solidFill>
                <a:latin typeface="Calibri"/>
              </a:rPr>
              <a:t>DATO OBSERVADO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7298" y="2569464"/>
            <a:ext cx="299709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10.972 reseñas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de Google sobre las bodegas del Marco, de 2011 a 2026, en seis idiomas.</a:t>
            </a:r>
          </a:p>
          <a:p>
            <a:pPr>
              <a:spcAft>
                <a:spcPts val="60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Google Trends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— interés de búsqueda frente a Rioja, Ribera y Rías Baixas.</a:t>
            </a:r>
          </a:p>
          <a:p>
            <a:pPr>
              <a:spcAft>
                <a:spcPts val="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Auditoría propia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de las webs de las bodegas y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OpenStreetMap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para el transporte.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51596" y="2112264"/>
            <a:ext cx="345429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51596" y="2112264"/>
            <a:ext cx="54864" cy="2286000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2258568"/>
            <a:ext cx="29970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6902F"/>
                </a:solidFill>
                <a:latin typeface="Calibri"/>
              </a:rPr>
              <a:t>ESTIMACIÓN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2569464"/>
            <a:ext cx="299709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Sin fuente propia.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Es un cálculo nuestro a partir de los anteriores: ingreso por visitante, estacionalidad aproximada, procedencia deducida del idioma.</a:t>
            </a:r>
          </a:p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Se marca precisamente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para que se pueda dudar de ello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672584"/>
            <a:ext cx="10820095" cy="1905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82312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1B19"/>
                </a:solidFill>
                <a:latin typeface="Georgia"/>
              </a:rPr>
              <a:t>Ninguna bodega ha tenido que aportar un solo dato. Todo es información pública, tratada de forma agregada.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Los textos de la plataforma no los genera una inteligencia artificial: se componen de los datos agregados, para que el mismo dato produzca siempre el mismo texto.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LA VISTA DE DESTINO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Lo que ve quien gestiona el destino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Entrar, mirar cinco segundos y saber por dónde empezar.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proyecto FEDER Andalucía 2021-2027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12264"/>
            <a:ext cx="518144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900"/>
              </a:spcAft>
              <a:buChar char="•"/>
            </a:pPr>
            <a:r>
              <a:rPr sz="1400" i="0" b="1">
                <a:solidFill>
                  <a:srgbClr val="1C1B19"/>
                </a:solidFill>
                <a:latin typeface="Calibri"/>
              </a:rPr>
              <a:t>Las cifras del destino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de un vistazo: visitantes, bodegas, valoración media e ingresos.</a:t>
            </a:r>
          </a:p>
          <a:p>
            <a:pPr marL="201168" indent="-201168">
              <a:spcAft>
                <a:spcPts val="900"/>
              </a:spcAft>
              <a:buChar char="•"/>
            </a:pPr>
            <a:r>
              <a:rPr sz="1400" i="0" b="1">
                <a:solidFill>
                  <a:srgbClr val="1C1B19"/>
                </a:solidFill>
                <a:latin typeface="Calibri"/>
              </a:rPr>
              <a:t>Un semáforo de las siete dimensiones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, deducido de los avisos que genera el motor: qué está crítico, qué requiere atención y qué está en orden.</a:t>
            </a:r>
          </a:p>
          <a:p>
            <a:pPr marL="201168" indent="-201168">
              <a:spcAft>
                <a:spcPts val="900"/>
              </a:spcAft>
              <a:buChar char="•"/>
            </a:pPr>
            <a:r>
              <a:rPr sz="1400" i="0" b="1">
                <a:solidFill>
                  <a:srgbClr val="1C1B19"/>
                </a:solidFill>
                <a:latin typeface="Calibri"/>
              </a:rPr>
              <a:t>Las tres acciones más urgentes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, con su diagnóstico y su fuente. La lista completa, al lado.</a:t>
            </a:r>
          </a:p>
          <a:p>
            <a:pPr marL="201168" indent="-201168">
              <a:spcAft>
                <a:spcPts val="900"/>
              </a:spcAft>
              <a:buChar char="•"/>
            </a:pPr>
            <a:r>
              <a:rPr sz="1400" i="0" b="1">
                <a:solidFill>
                  <a:srgbClr val="1C1B19"/>
                </a:solidFill>
                <a:latin typeface="Calibri"/>
              </a:rPr>
              <a:t>El detalle por dimensión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, con las recomendaciones de cada una junto al dato que las justifica.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2112264"/>
            <a:ext cx="5181447" cy="2377440"/>
          </a:xfrm>
          <a:prstGeom prst="rect">
            <a:avLst/>
          </a:prstGeom>
          <a:solidFill>
            <a:srgbClr val="FDF6F1"/>
          </a:solidFill>
          <a:ln w="9525">
            <a:solidFill>
              <a:srgbClr val="7A3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047" y="2249424"/>
            <a:ext cx="4724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EJEMPLO REAL DE RECOMENDACIÓN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2542032"/>
            <a:ext cx="4724247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Responder a las críticas sin contestar.</a:t>
            </a:r>
          </a:p>
          <a:p>
            <a:pPr>
              <a:spcAft>
                <a:spcPts val="60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*Diagnóstico:* 590 reseñas de 1-2 estrellas sin una sola respuesta en el destino; 11 de las 33 bodegas con muestra suficiente no han contestado nunca.</a:t>
            </a:r>
          </a:p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*Acción:* establecer una pauta de respuesta. Es gratis, lo lee quien está decidiendo la visita y no requiere inversión.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764024"/>
            <a:ext cx="10820095" cy="1188720"/>
          </a:xfrm>
          <a:prstGeom prst="rect">
            <a:avLst/>
          </a:prstGeom>
          <a:solidFill>
            <a:srgbClr val="F3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01184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LOS UMBRALES ESTÁN DECLARADOS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175504"/>
            <a:ext cx="102714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7544E"/>
                </a:solidFill>
                <a:latin typeface="Calibri"/>
              </a:rPr>
              <a:t>Cada recomendación salta cuando un dato cruza un listón, y la plataforma publica cuál es ese listón y de dónde sale: unos tienen base estadística, otros son criterio del equipo y se dicen como tales. Un sistema de recomendaciones con los umbrales a la vista es auditable.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UN HALLAZGO DE DESTINO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Lo que aparece al cruzar fuentes que nadie cruzaba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En 2024 desembarcaron 696.151 cruceristas en la Bahía de Cádiz. Todas las bodegas del Marco juntas recibieron 425.652 visitantes.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proyecto FEDER Andalucía 2021-2027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7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5800" y="2112264"/>
          <a:ext cx="7498079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ectangle 13"/>
          <p:cNvSpPr/>
          <p:nvPr/>
        </p:nvSpPr>
        <p:spPr>
          <a:xfrm>
            <a:off x="8458200" y="2112264"/>
            <a:ext cx="3047695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2112264"/>
            <a:ext cx="54864" cy="137160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9368" y="2258568"/>
            <a:ext cx="2681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EN NOVIEMBRE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2532888"/>
            <a:ext cx="26819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1B19"/>
                </a:solidFill>
                <a:latin typeface="Georgia"/>
              </a:rPr>
              <a:t>85 vs 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8" y="3099816"/>
            <a:ext cx="2681935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Los cruceros están al 85 % de su máximo; el enoturismo, al 54 %.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666744"/>
            <a:ext cx="30476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Cádiz es el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6.º puerto de España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en cruceros, y atraca a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40 minutos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de Jerez.</a:t>
            </a:r>
          </a:p>
          <a:p>
            <a:pPr>
              <a:spcAft>
                <a:spcPts val="70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En torno al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30 % de los enoturistas no pernocta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: es el perfil de quien baja de un barco por unas horas.</a:t>
            </a:r>
          </a:p>
          <a:p>
            <a:pPr>
              <a:spcAft>
                <a:spcPts val="0"/>
              </a:spcAft>
            </a:pPr>
            <a:r>
              <a:rPr sz="1250" i="0" b="1">
                <a:solidFill>
                  <a:srgbClr val="1C1B19"/>
                </a:solidFill>
                <a:latin typeface="Calibri"/>
              </a:rPr>
              <a:t>Lo accionable: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un producto de medio día empaquetado con navieras y agencias receptivas, para octubre y noviembre. Hoy no existe.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Cruceros: Dataestur / Puertos del Estado (oficial). La curva de afluencia enoturística es una estimación propia por volumen mensual de reseñas: sirve para la forma, no para dar cifras.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UN HALLAZGO DE MERCADO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Demanda que existe y no se está atendiendo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proyecto FEDER Andalucía 2021-2027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8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85800" y="1563624"/>
          <a:ext cx="5181447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6324447" y="1563624"/>
            <a:ext cx="5181447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4447" y="1563624"/>
            <a:ext cx="54864" cy="132588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5615" y="1709928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TOTAL DESDE PAÍSES SIN VUELO DIRECTO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5615" y="1984248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1B19"/>
                </a:solidFill>
                <a:latin typeface="Georgia"/>
              </a:rPr>
              <a:t>3.253.175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5615" y="2551176"/>
            <a:ext cx="48156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búsquedas. Solo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ocho países extranjeros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tienen asiento directo a Jerez.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3044952"/>
            <a:ext cx="5181447" cy="914400"/>
          </a:xfrm>
          <a:prstGeom prst="rect">
            <a:avLst/>
          </a:prstGeom>
          <a:solidFill>
            <a:srgbClr val="FDF6F1"/>
          </a:solidFill>
          <a:ln w="9525">
            <a:solidFill>
              <a:srgbClr val="7A3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3182112"/>
            <a:ext cx="4724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EL CASO DE ESTADOS UNIDOS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474720"/>
            <a:ext cx="4724247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Es el mercado que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mejor convierte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la búsqueda en reserva (5,87 %) y el que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más noches se queda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(12,8 días). Y no tiene vuelo directo.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9664"/>
            <a:ext cx="1082009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700"/>
              </a:spcAft>
              <a:buChar char="•"/>
            </a:pPr>
            <a:r>
              <a:rPr sz="1350" i="0" b="1">
                <a:solidFill>
                  <a:srgbClr val="1C1B19"/>
                </a:solidFill>
                <a:latin typeface="Calibri"/>
              </a:rPr>
              <a:t>Es un indicador que mira al futuro:</a:t>
            </a:r>
            <a:r>
              <a:rPr sz="1350" i="0" b="0">
                <a:solidFill>
                  <a:srgbClr val="57544E"/>
                </a:solidFill>
                <a:latin typeface="Calibri"/>
              </a:rPr>
              <a:t> las búsquedas de vuelo se hacen meses antes del viaje, así que informan de demanda que aún no ha ocurrido. Casi todo lo demás en turismo mira al pasado.</a:t>
            </a:r>
          </a:p>
          <a:p>
            <a:pPr marL="201168" indent="-201168">
              <a:spcAft>
                <a:spcPts val="700"/>
              </a:spcAft>
              <a:buChar char="•"/>
            </a:pPr>
            <a:r>
              <a:rPr sz="1350" i="0" b="1">
                <a:solidFill>
                  <a:srgbClr val="1C1B19"/>
                </a:solidFill>
                <a:latin typeface="Calibri"/>
              </a:rPr>
              <a:t>Y dice cuándo actuar:</a:t>
            </a:r>
            <a:r>
              <a:rPr sz="1350" i="0" b="0">
                <a:solidFill>
                  <a:srgbClr val="57544E"/>
                </a:solidFill>
                <a:latin typeface="Calibri"/>
              </a:rPr>
              <a:t> Alemania planifica con 167 días de antelación; Estados Unidos, con 120. Eso fija la fecha de lanzamiento de cada campaña.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77E"/>
                </a:solidFill>
                <a:latin typeface="Calibri"/>
              </a:rPr>
              <a:t>Fuente: Dataestur — búsquedas, reservas y asientos programados por país emisor, con datos hasta agosto de 2026.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LA VISTA DE BODEGA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Y lo que puede entregar a cada empresa de su destino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El mismo análisis, bajado al nivel de cada establecimiento. Es lo que convierte la plataforma en un servicio al tejido empresarial.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proyecto FEDER Andalucía 2021-2027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12264"/>
            <a:ext cx="345429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SU REPUTACIÓN EN DETALLE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532888"/>
            <a:ext cx="3088538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Valoración, evolución, distribución de estrellas y un indicador que no muestra ninguna plataforma comercial: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la tasa de respuesta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 del propietario a las reseñas y a las críticas.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8698" y="2112264"/>
            <a:ext cx="345429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8698" y="2112264"/>
            <a:ext cx="54864" cy="201168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9866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SUS COMPETIDORES DIRECTOS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9866" y="2532888"/>
            <a:ext cx="3088538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No las 41 bodegas restantes: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tres o cuatro</a:t>
            </a:r>
            <a:r>
              <a:rPr sz="1250" i="0" b="0">
                <a:solidFill>
                  <a:srgbClr val="57544E"/>
                </a:solidFill>
                <a:latin typeface="Calibri"/>
              </a:rPr>
              <a:t>, identificadas por parecido en el cliente al que sirven y en los recursos de que disponen. Con un mapa que sitúa a cada rival.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1596" y="2112264"/>
            <a:ext cx="345429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3CC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2764" y="2258568"/>
            <a:ext cx="3088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B877E"/>
                </a:solidFill>
                <a:latin typeface="Calibri"/>
              </a:rPr>
              <a:t>UN INFORME DE UNA PÁGINA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2764" y="2532888"/>
            <a:ext cx="3088538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i="0" b="0">
                <a:solidFill>
                  <a:srgbClr val="57544E"/>
                </a:solidFill>
                <a:latin typeface="Calibri"/>
              </a:rPr>
              <a:t>Descargable en PDF: reputación, competidores, fortalezas y debilidades, presencia digital y sostenibilidad, y qué hacer primero. </a:t>
            </a:r>
            <a:r>
              <a:rPr sz="1250" i="0" b="1">
                <a:solidFill>
                  <a:srgbClr val="1C1B19"/>
                </a:solidFill>
                <a:latin typeface="Calibri"/>
              </a:rPr>
              <a:t>Pensado para entregárselo a la bodega.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98264"/>
            <a:ext cx="1082009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400" i="0" b="1">
                <a:solidFill>
                  <a:srgbClr val="1C1B19"/>
                </a:solidFill>
                <a:latin typeface="Calibri"/>
              </a:rPr>
              <a:t>37 de las 42 bodegas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obtienen análisis de competidores. A las cinco restantes la plataforma les dice que no hay muestra suficiente, en lugar de darles competidores al azar.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i="0" b="0">
                <a:solidFill>
                  <a:srgbClr val="57544E"/>
                </a:solidFill>
                <a:latin typeface="Calibri"/>
              </a:rPr>
              <a:t>Para un gestor de destino esto es </a:t>
            </a:r>
            <a:r>
              <a:rPr sz="1400" i="0" b="1">
                <a:solidFill>
                  <a:srgbClr val="1C1B19"/>
                </a:solidFill>
                <a:latin typeface="Calibri"/>
              </a:rPr>
              <a:t>un servicio que puede ofrecer a sus asociados</a:t>
            </a:r>
            <a:r>
              <a:rPr sz="1400" i="0" b="0">
                <a:solidFill>
                  <a:srgbClr val="57544E"/>
                </a:solidFill>
                <a:latin typeface="Calibri"/>
              </a:rPr>
              <a:t> sin pedirles nada a cambio y sin coste por empresa.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CÓMO ESTÁ CONSTRUIDA · PARA CONSULTAR CON EL ÁREA DE INFORMÁTICA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Ficha técnica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36245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proyecto FEDER Andalucía 2021-2027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10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1563624"/>
          <a:ext cx="108173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622792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877E"/>
                          </a:solidFill>
                          <a:latin typeface="Calibri"/>
                        </a:rPr>
                        <a:t>Detalle</a:t>
                      </a:r>
                    </a:p>
                  </a:txBody>
                  <a:tcPr marL="73152" marR="73152" marT="36576" marB="36576">
                    <a:solidFill>
                      <a:srgbClr val="F3F0E9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Tecnología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Python 3.10 y Streamlit. 25 módulos, unas 8.400 líneas. Sin licencias de software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Arquitectura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Ingesta → ETL → procesamiento de lenguaje → analítica → cuadro de mando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Fuentes conectadas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13 módulos de ingesta; 19 conjuntos de datos procesados que alimentan la aplicación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Análisis de texto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Léxico multilingüe propio (ES, EN, DE, FR, IT) + modelo BERT multilingüe de sentimiento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Volumen analizado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10.972 reseñas · 7.258 con texto · 17.246 menciones anotadas por atributo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Modelos analíticos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Importancia-desempeño (IPA, IPCA, DIPA), importancia por impacto (PRCA), perfil de Kano, competidores, co-ocurrencias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Despliegue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Servicio en la nube, acceso por navegador, sin instalación. Código abierto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Coste recurrente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Decenas de euros al año: actualizar el corpus de reseñas cuesta unos 36 $</a:t>
                      </a:r>
                    </a:p>
                  </a:txBody>
                  <a:tcPr marL="73152" marR="73152" marT="36576" marB="36576">
                    <a:solidFill>
                      <a:srgbClr val="FBFAF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Verificación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C1B19"/>
                          </a:solidFill>
                          <a:latin typeface="Calibri"/>
                        </a:rPr>
                        <a:t>Pruebas automáticas de las cinco vistas y revisión en navegador real tras cada cambio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85800" y="5148072"/>
            <a:ext cx="10820095" cy="960120"/>
          </a:xfrm>
          <a:prstGeom prst="rect">
            <a:avLst/>
          </a:prstGeom>
          <a:solidFill>
            <a:srgbClr val="FDF6F1"/>
          </a:solidFill>
          <a:ln w="9525">
            <a:solidFill>
              <a:srgbClr val="7A3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UNA DECISIÓN DE DISEÑO QUE CONVIENE CONOCER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362895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i="0" b="0">
                <a:solidFill>
                  <a:srgbClr val="57544E"/>
                </a:solidFill>
                <a:latin typeface="Calibri"/>
              </a:rPr>
              <a:t>Los textos de la plataforma </a:t>
            </a:r>
            <a:r>
              <a:rPr sz="1200" i="0" b="1">
                <a:solidFill>
                  <a:srgbClr val="1C1B19"/>
                </a:solidFill>
                <a:latin typeface="Calibri"/>
              </a:rPr>
              <a:t>no los redacta una inteligencia artificial generativa</a:t>
            </a:r>
            <a:r>
              <a:rPr sz="1200" i="0" b="0">
                <a:solidFill>
                  <a:srgbClr val="57544E"/>
                </a:solidFill>
                <a:latin typeface="Calibri"/>
              </a:rPr>
              <a:t>: se componen a partir de los datos agregados. El mismo dato produce siempre el mismo texto, y eso hace que todo resultado sea reproducible y auditable.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A3B1E"/>
                </a:solidFill>
                <a:latin typeface="Calibri"/>
              </a:rPr>
              <a:t>REPLICABILIDAD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04088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B19"/>
                </a:solidFill>
                <a:latin typeface="Georgia"/>
              </a:rPr>
              <a:t>Qué haría falta para llevarlo a otro destino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7544E"/>
                </a:solidFill>
                <a:latin typeface="Calibri"/>
              </a:rPr>
              <a:t>El diseño es modular y replicable: es uno de los objetivos declarados del proyecto.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11096"/>
            <a:ext cx="10820095" cy="9525"/>
          </a:xfrm>
          <a:prstGeom prst="rect">
            <a:avLst/>
          </a:prstGeom>
          <a:solidFill>
            <a:srgbClr val="D3C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77E"/>
                </a:solidFill>
                <a:latin typeface="Calibri"/>
              </a:rPr>
              <a:t>ENOLYTICS · Universidad de Cádiz · proyecto FEDER Andalucía 2021-2027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B877E"/>
                </a:solidFill>
                <a:latin typeface="Calibr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12264"/>
            <a:ext cx="518144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A3B1E"/>
                </a:solidFill>
                <a:latin typeface="Calibri"/>
              </a:rPr>
              <a:t>LO QUE YA ESTÁ RESUELTO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96312"/>
            <a:ext cx="5181447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350" i="0" b="1">
                <a:solidFill>
                  <a:srgbClr val="1C1B19"/>
                </a:solidFill>
                <a:latin typeface="Calibri"/>
              </a:rPr>
              <a:t>El método completo</a:t>
            </a:r>
            <a:r>
              <a:rPr sz="1350" i="0" b="0">
                <a:solidFill>
                  <a:srgbClr val="57544E"/>
                </a:solidFill>
                <a:latin typeface="Calibri"/>
              </a:rPr>
              <a:t> y los modelos analíticos, ya validados sobre un destino real.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350" i="0" b="1">
                <a:solidFill>
                  <a:srgbClr val="1C1B19"/>
                </a:solidFill>
                <a:latin typeface="Calibri"/>
              </a:rPr>
              <a:t>Las fuentes de ámbito nacional</a:t>
            </a:r>
            <a:r>
              <a:rPr sz="1350" i="0" b="0">
                <a:solidFill>
                  <a:srgbClr val="57544E"/>
                </a:solidFill>
                <a:latin typeface="Calibri"/>
              </a:rPr>
              <a:t> —ACEVIN, Dataestur, Google Trends— que cubren cualquier ruta del vino española sin trabajo adicional.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350" i="0" b="1">
                <a:solidFill>
                  <a:srgbClr val="1C1B19"/>
                </a:solidFill>
                <a:latin typeface="Calibri"/>
              </a:rPr>
              <a:t>El cuadro de mando</a:t>
            </a:r>
            <a:r>
              <a:rPr sz="1350" i="0" b="0">
                <a:solidFill>
                  <a:srgbClr val="57544E"/>
                </a:solidFill>
                <a:latin typeface="Calibri"/>
              </a:rPr>
              <a:t>, con sus cinco vistas, su informe descargable y su guía metodológica.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350" i="0" b="1">
                <a:solidFill>
                  <a:srgbClr val="1C1B19"/>
                </a:solidFill>
                <a:latin typeface="Calibri"/>
              </a:rPr>
              <a:t>La auditoría automática de webs</a:t>
            </a:r>
            <a:r>
              <a:rPr sz="1350" i="0" b="0">
                <a:solidFill>
                  <a:srgbClr val="57544E"/>
                </a:solidFill>
                <a:latin typeface="Calibri"/>
              </a:rPr>
              <a:t> y el cálculo de accesibilidad y transporte, que funcionan con cualquier listado de empresas.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112264"/>
            <a:ext cx="518144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A3B1E"/>
                </a:solidFill>
                <a:latin typeface="Calibri"/>
              </a:rPr>
              <a:t>LO QUE HABRÍA QUE APORTAR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496312"/>
            <a:ext cx="5181447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350" i="0" b="1">
                <a:solidFill>
                  <a:srgbClr val="1C1B19"/>
                </a:solidFill>
                <a:latin typeface="Calibri"/>
              </a:rPr>
              <a:t>El censo de empresas del destino</a:t>
            </a:r>
            <a:r>
              <a:rPr sz="1350" i="0" b="0">
                <a:solidFill>
                  <a:srgbClr val="57544E"/>
                </a:solidFill>
                <a:latin typeface="Calibri"/>
              </a:rPr>
              <a:t> con su ubicación y servicios: el equivalente al catálogo de la Ruta del Vino y Brandy.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350" i="0" b="1">
                <a:solidFill>
                  <a:srgbClr val="1C1B19"/>
                </a:solidFill>
                <a:latin typeface="Calibri"/>
              </a:rPr>
              <a:t>La descarga del corpus de reseñas</a:t>
            </a:r>
            <a:r>
              <a:rPr sz="1350" i="0" b="0">
                <a:solidFill>
                  <a:srgbClr val="57544E"/>
                </a:solidFill>
                <a:latin typeface="Calibri"/>
              </a:rPr>
              <a:t> de ese destino, que es el único coste variable relevante.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350" i="0" b="1">
                <a:solidFill>
                  <a:srgbClr val="1C1B19"/>
                </a:solidFill>
                <a:latin typeface="Calibri"/>
              </a:rPr>
              <a:t>Criterio local</a:t>
            </a:r>
            <a:r>
              <a:rPr sz="1350" i="0" b="0">
                <a:solidFill>
                  <a:srgbClr val="57544E"/>
                </a:solidFill>
                <a:latin typeface="Calibri"/>
              </a:rPr>
              <a:t> para calibrar los umbrales de las recomendaciones y validar los resultados.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350" i="0" b="0">
                <a:solidFill>
                  <a:srgbClr val="57544E"/>
                </a:solidFill>
                <a:latin typeface="Calibri"/>
              </a:rPr>
              <a:t>Opcionalmente, </a:t>
            </a:r>
            <a:r>
              <a:rPr sz="1350" i="0" b="1">
                <a:solidFill>
                  <a:srgbClr val="1C1B19"/>
                </a:solidFill>
                <a:latin typeface="Calibri"/>
              </a:rPr>
              <a:t>los datos que no existen en abierto</a:t>
            </a:r>
            <a:r>
              <a:rPr sz="1350" i="0" b="0">
                <a:solidFill>
                  <a:srgbClr val="57544E"/>
                </a:solidFill>
                <a:latin typeface="Calibri"/>
              </a:rPr>
              <a:t> —empleo, consumos, precios— mediante cuestionario a las empresas.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632704"/>
            <a:ext cx="10820095" cy="19050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742432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1B19"/>
                </a:solidFill>
                <a:latin typeface="Georgia"/>
              </a:rPr>
              <a:t>El proyecto está a mitad de sus 24 meses. Nada de lo que han visto es definitivo, y eso también es una oportunidad.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2438340" cy="64008"/>
          </a:xfrm>
          <a:prstGeom prst="rect">
            <a:avLst/>
          </a:prstGeom>
          <a:solidFill>
            <a:srgbClr val="EBD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6793992"/>
            <a:ext cx="2438340" cy="64008"/>
          </a:xfrm>
          <a:prstGeom prst="rect">
            <a:avLst/>
          </a:prstGeom>
          <a:solidFill>
            <a:srgbClr val="C6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6793992"/>
            <a:ext cx="2438340" cy="64008"/>
          </a:xfrm>
          <a:prstGeom prst="rect">
            <a:avLst/>
          </a:prstGeom>
          <a:solidFill>
            <a:srgbClr val="A45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6793992"/>
            <a:ext cx="2438340" cy="64008"/>
          </a:xfrm>
          <a:prstGeom prst="rect">
            <a:avLst/>
          </a:prstGeom>
          <a:solidFill>
            <a:srgbClr val="7A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6793992"/>
            <a:ext cx="2438340" cy="64008"/>
          </a:xfrm>
          <a:prstGeom prst="rect">
            <a:avLst/>
          </a:prstGeom>
          <a:solidFill>
            <a:srgbClr val="3B1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BD98A"/>
                </a:solidFill>
                <a:latin typeface="Calibri"/>
              </a:rPr>
              <a:t>PARA SEGUIR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6EFE3"/>
                </a:solidFill>
                <a:latin typeface="Georgia"/>
              </a:rPr>
              <a:t>¿Hablamos?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7588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9BEAC"/>
                </a:solidFill>
                <a:latin typeface="Calibri"/>
              </a:rPr>
              <a:t>La plataforma está abierta y se puede explorar hoy mismo. Si quieren verla sobre su propio destino, o que se la enseñemos a sus empresas, hablemos.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6EFE3"/>
                </a:solidFill>
                <a:latin typeface="Calibri"/>
              </a:rPr>
              <a:t>ENOLYTICS · Universidad de Cádiz · proyecto FEDER Andalucía 2021-2027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F6EFE3"/>
                </a:solidFill>
                <a:latin typeface="Calibr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6344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BD98A"/>
                </a:solidFill>
                <a:latin typeface="Calibri"/>
              </a:rPr>
              <a:t>LA PLATAFORMA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3776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6EFE3"/>
                </a:solidFill>
                <a:latin typeface="Calibri"/>
              </a:rPr>
              <a:t>enolytics-feder-uca.streamlit.app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4068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BD98A"/>
                </a:solidFill>
                <a:latin typeface="Calibri"/>
              </a:rPr>
              <a:t>CONTACTO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71500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6EFE3"/>
                </a:solidFill>
                <a:latin typeface="Calibri"/>
              </a:rPr>
              <a:t>inteligencia.turistica@gm.uca.es · Universidad de Cádiz · Instituto INDESS
Proyecto ENOLYTICS · FEDER Andalucía 2021-2027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