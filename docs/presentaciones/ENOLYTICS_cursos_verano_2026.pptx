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C1B19"/>
                </a:solidFill>
              </a:rPr>
              <a:t>Distribución de las puntuaciones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 de reseñas</c:v>
                </c:pt>
              </c:strCache>
            </c:strRef>
          </c:tx>
          <c:spPr>
            <a:solidFill>
              <a:srgbClr val="C9C5BA"/>
            </a:solidFill>
          </c:spPr>
          <c:dPt>
            <c:idx val="4"/>
            <c:spPr>
              <a:solidFill>
                <a:srgbClr val="EB6834"/>
              </a:solidFill>
            </c:spPr>
          </c:dPt>
          <c:cat>
            <c:strRef>
              <c:f>Sheet1!$A$2:$A$6</c:f>
              <c:strCache>
                <c:ptCount val="5"/>
                <c:pt idx="0">
                  <c:v>1 ★</c:v>
                </c:pt>
                <c:pt idx="1">
                  <c:v>2 ★</c:v>
                </c:pt>
                <c:pt idx="2">
                  <c:v>3 ★</c:v>
                </c:pt>
                <c:pt idx="3">
                  <c:v>4 ★</c:v>
                </c:pt>
                <c:pt idx="4">
                  <c:v>5 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</c:v>
                </c:pt>
                <c:pt idx="1">
                  <c:v>1.8</c:v>
                </c:pt>
                <c:pt idx="2">
                  <c:v>3.9</c:v>
                </c:pt>
                <c:pt idx="3">
                  <c:v>14.3</c:v>
                </c:pt>
                <c:pt idx="4">
                  <c:v>75.9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/>
        <c:axPos val="b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754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C1B19"/>
                </a:solidFill>
              </a:rPr>
              <a:t>Importancia por impacto en la satisfacción · Marco de Jerez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 (%)</c:v>
                </c:pt>
              </c:strCache>
            </c:strRef>
          </c:tx>
          <c:spPr>
            <a:solidFill>
              <a:srgbClr val="C9C5BA"/>
            </a:solidFill>
          </c:spPr>
          <c:dPt>
            <c:idx val="6"/>
            <c:spPr>
              <a:solidFill>
                <a:srgbClr val="2A78D6"/>
              </a:solidFill>
            </c:spPr>
          </c:dPt>
          <c:dPt>
            <c:idx val="5"/>
            <c:spPr>
              <a:solidFill>
                <a:srgbClr val="2A78D6"/>
              </a:solidFill>
            </c:spPr>
          </c:dPt>
          <c:cat>
            <c:strRef>
              <c:f>Sheet1!$A$2:$A$9</c:f>
              <c:strCache>
                <c:ptCount val="8"/>
                <c:pt idx="0">
                  <c:v>Entorno y viñedo</c:v>
                </c:pt>
                <c:pt idx="1">
                  <c:v>Gastronomía</c:v>
                </c:pt>
                <c:pt idx="2">
                  <c:v>Vino y cata</c:v>
                </c:pt>
                <c:pt idx="3">
                  <c:v>Personal y trato</c:v>
                </c:pt>
                <c:pt idx="4">
                  <c:v>Instalaciones</c:v>
                </c:pt>
                <c:pt idx="5">
                  <c:v>Organización y reserva</c:v>
                </c:pt>
                <c:pt idx="6">
                  <c:v>Precio y valor</c:v>
                </c:pt>
                <c:pt idx="7">
                  <c:v>Visita y experiencia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4.8</c:v>
                </c:pt>
                <c:pt idx="1">
                  <c:v>7.7</c:v>
                </c:pt>
                <c:pt idx="2">
                  <c:v>9.7</c:v>
                </c:pt>
                <c:pt idx="3">
                  <c:v>13.5</c:v>
                </c:pt>
                <c:pt idx="4">
                  <c:v>13.8</c:v>
                </c:pt>
                <c:pt idx="5">
                  <c:v>14.8</c:v>
                </c:pt>
                <c:pt idx="6">
                  <c:v>14.9</c:v>
                </c:pt>
                <c:pt idx="7">
                  <c:v>20.8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000">
                <a:solidFill>
                  <a:srgbClr val="8B87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</c:scaling>
        <c:delete/>
        <c:axPos val="b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754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C1B19"/>
                </a:solidFill>
              </a:rPr>
              <a:t>DIPA del Marco · sentimiento medio por atributo y trienio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2018-2020</c:v>
                </c:pt>
              </c:strCache>
            </c:strRef>
          </c:tx>
          <c:spPr>
            <a:solidFill>
              <a:srgbClr val="C9C5BA"/>
            </a:solidFill>
          </c:spPr>
          <c:cat>
            <c:strRef>
              <c:f>Sheet1!$A$2:$A$9</c:f>
              <c:strCache>
                <c:ptCount val="8"/>
                <c:pt idx="0">
                  <c:v>Precio y valor</c:v>
                </c:pt>
                <c:pt idx="1">
                  <c:v>Gastronomía</c:v>
                </c:pt>
                <c:pt idx="2">
                  <c:v>Organización</c:v>
                </c:pt>
                <c:pt idx="3">
                  <c:v>Visita</c:v>
                </c:pt>
                <c:pt idx="4">
                  <c:v>Entorno</c:v>
                </c:pt>
                <c:pt idx="5">
                  <c:v>Personal</c:v>
                </c:pt>
                <c:pt idx="6">
                  <c:v>Vino y cata</c:v>
                </c:pt>
                <c:pt idx="7">
                  <c:v>Instalaciones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3.87</c:v>
                </c:pt>
                <c:pt idx="1">
                  <c:v>3.82</c:v>
                </c:pt>
                <c:pt idx="2">
                  <c:v>3.47</c:v>
                </c:pt>
                <c:pt idx="3">
                  <c:v>4.22</c:v>
                </c:pt>
                <c:pt idx="4">
                  <c:v>4.37</c:v>
                </c:pt>
                <c:pt idx="5">
                  <c:v>4.3</c:v>
                </c:pt>
                <c:pt idx="6">
                  <c:v>4.17</c:v>
                </c:pt>
                <c:pt idx="7">
                  <c:v>4.28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2024-2026</c:v>
                </c:pt>
              </c:strCache>
            </c:strRef>
          </c:tx>
          <c:spPr>
            <a:solidFill>
              <a:srgbClr val="2A78D6"/>
            </a:solidFill>
          </c:spPr>
          <c:dPt>
            <c:idx val="0"/>
            <c:spPr>
              <a:solidFill>
                <a:srgbClr val="EB6834"/>
              </a:solidFill>
            </c:spPr>
          </c:dPt>
          <c:cat>
            <c:strRef>
              <c:f>Sheet1!$A$2:$A$9</c:f>
              <c:strCache>
                <c:ptCount val="8"/>
                <c:pt idx="0">
                  <c:v>Precio y valor</c:v>
                </c:pt>
                <c:pt idx="1">
                  <c:v>Gastronomía</c:v>
                </c:pt>
                <c:pt idx="2">
                  <c:v>Organización</c:v>
                </c:pt>
                <c:pt idx="3">
                  <c:v>Visita</c:v>
                </c:pt>
                <c:pt idx="4">
                  <c:v>Entorno</c:v>
                </c:pt>
                <c:pt idx="5">
                  <c:v>Personal</c:v>
                </c:pt>
                <c:pt idx="6">
                  <c:v>Vino y cata</c:v>
                </c:pt>
                <c:pt idx="7">
                  <c:v>Instalaciones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3.7</c:v>
                </c:pt>
                <c:pt idx="1">
                  <c:v>3.95</c:v>
                </c:pt>
                <c:pt idx="2">
                  <c:v>3.54</c:v>
                </c:pt>
                <c:pt idx="3">
                  <c:v>4.28</c:v>
                </c:pt>
                <c:pt idx="4">
                  <c:v>4.3</c:v>
                </c:pt>
                <c:pt idx="5">
                  <c:v>4.35</c:v>
                </c:pt>
                <c:pt idx="6">
                  <c:v>4.15</c:v>
                </c:pt>
                <c:pt idx="7">
                  <c:v>4.26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950">
                <a:solidFill>
                  <a:srgbClr val="8B87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6"/>
          <c:min val="3.0"/>
        </c:scaling>
        <c:delete val="0"/>
        <c:axPos val="l"/>
        <c:majorGridlines>
          <c:spPr>
            <a:ln>
              <a:solidFill>
                <a:srgbClr val="E4E0D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754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Cruceristas (índice, 100 = máximo)</c:v>
                </c:pt>
              </c:strCache>
            </c:strRef>
          </c:tx>
          <c:spPr>
            <a:ln w="31750">
              <a:solidFill>
                <a:srgbClr val="EB6834"/>
              </a:solidFill>
            </a:ln>
          </c:spPr>
          <c:marker>
            <c:size val="7"/>
            <c:spPr>
              <a:solidFill>
                <a:srgbClr val="EB683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</c:v>
                </c:pt>
                <c:pt idx="1">
                  <c:v>9</c:v>
                </c:pt>
                <c:pt idx="2">
                  <c:v>29</c:v>
                </c:pt>
                <c:pt idx="3">
                  <c:v>66</c:v>
                </c:pt>
                <c:pt idx="4">
                  <c:v>63</c:v>
                </c:pt>
                <c:pt idx="5">
                  <c:v>41</c:v>
                </c:pt>
                <c:pt idx="6">
                  <c:v>70</c:v>
                </c:pt>
                <c:pt idx="7">
                  <c:v>68</c:v>
                </c:pt>
                <c:pt idx="8">
                  <c:v>84</c:v>
                </c:pt>
                <c:pt idx="9">
                  <c:v>100</c:v>
                </c:pt>
                <c:pt idx="10">
                  <c:v>85</c:v>
                </c:pt>
                <c:pt idx="11">
                  <c:v>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Afluencia enoturística (índice; estimación por volumen de reseñas)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</c:v>
                </c:pt>
                <c:pt idx="1">
                  <c:v>44</c:v>
                </c:pt>
                <c:pt idx="2">
                  <c:v>57</c:v>
                </c:pt>
                <c:pt idx="3">
                  <c:v>60</c:v>
                </c:pt>
                <c:pt idx="4">
                  <c:v>62</c:v>
                </c:pt>
                <c:pt idx="5">
                  <c:v>60</c:v>
                </c:pt>
                <c:pt idx="6">
                  <c:v>68</c:v>
                </c:pt>
                <c:pt idx="7">
                  <c:v>100</c:v>
                </c:pt>
                <c:pt idx="8">
                  <c:v>77</c:v>
                </c:pt>
                <c:pt idx="9">
                  <c:v>75</c:v>
                </c:pt>
                <c:pt idx="10">
                  <c:v>54</c:v>
                </c:pt>
                <c:pt idx="11">
                  <c:v>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4E0D6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5754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proyecto. Dos partes: (I) el proyecto tal como se concibió en la memoria científico-técnica,</a:t>
            </a:r>
          </a:p>
          <a:p>
            <a:r>
              <a:t>firmada en febrero de 2025; (II) la aplicación desarrollada durante el primer año, con sus datos, métodos,</a:t>
            </a:r>
          </a:p>
          <a:p>
            <a:r>
              <a:t>módulos, funcionalidades y aportaciones.</a:t>
            </a:r>
          </a:p>
          <a:p>
            <a:r>
              <a:t>Encuadre para el alumnado: es un ejemplo completo de investigación aplicada, desde la solicitud hasta el</a:t>
            </a:r>
          </a:p>
          <a:p>
            <a:r>
              <a:t>prototipo, incluyendo lo que se ha desviado de lo previsto y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Anunciar la estructura y que la parte II incluye una demostración de la aplicación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Cifras tal como aparecen en la memoria (datos de 2023). El dato de 2024 del Marco (425.652) ya es del</a:t>
            </a:r>
          </a:p>
          <a:p>
            <a:r>
              <a:t>observatorio ACEVIN publicado después; se incluye para actualizar.</a:t>
            </a:r>
          </a:p>
          <a:p>
            <a:r>
              <a:t>Idea clave: crecer no es el problema; el problema es decidir con información en un entorno más competitivo.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Subrayar «de una manera ética y legal»: la inteligencia competitiva trabaja con información pública.</a:t>
            </a:r>
          </a:p>
          <a:p>
            <a:r>
              <a:t>Distinguir dato → información → inteligencia. Un dato que llega tarde o no se entiende no es inteligencia.</a:t>
            </a:r>
          </a:p>
          <a:p>
            <a:r>
              <a:t>La definición integra trabajos previos: Bennett (2003), Bulger (2016), Porter (1980), Simkin y Cheng (1997).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Bulger (2016) propone seis subcampos. La aportación conceptual del proyecto es la séptima: tratar la sostenibilidad</a:t>
            </a:r>
          </a:p>
          <a:p>
            <a:r>
              <a:t>como inteligencia propia, no como un apartado.</a:t>
            </a:r>
          </a:p>
          <a:p>
            <a:r>
              <a:t>SEGITTUR organiza sus indicadores en tres dimensiones (oferta, demanda, sostenibilidad); cada inteligencia se mapea</a:t>
            </a:r>
          </a:p>
          <a:p>
            <a:r>
              <a:t>sobre ellas. Nótese que la inteligencia económica cae en «sostenibilidad»: en ese marco la sostenibilidad incluye el</a:t>
            </a:r>
          </a:p>
          <a:p>
            <a:r>
              <a:t>pilar económico y social, no solo el ambiental.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paralelismo: el DTI es el destino; la ETI es la empresa dentro del destino. Mismos cinco ejes, con</a:t>
            </a:r>
          </a:p>
          <a:p>
            <a:r>
              <a:t>«gobernanza» en el destino y «gestión» en la empresa.</a:t>
            </a:r>
          </a:p>
          <a:p>
            <a:r>
              <a:t>Dato clave para conectar con el proyecto: la norma dice que la ETI se distingue por decidir con datos y cita</a:t>
            </a:r>
          </a:p>
          <a:p>
            <a:r>
              <a:t>explícitamente la gestión de reseñas y la escucha activa en redes sociales (5.3 a). También pide (5.3 b) una</a:t>
            </a:r>
          </a:p>
          <a:p>
            <a:r>
              <a:t>sistemática tecnológica de recopilación, análisis y explotación de datos para decidir, y (5.3 h, anexo A.1) que</a:t>
            </a:r>
          </a:p>
          <a:p>
            <a:r>
              <a:t>la empresa comparta información con el destino a través de una plataforma. Ese intercambio ETI-DTI es la</a:t>
            </a:r>
          </a:p>
          <a:p>
            <a:r>
              <a:t>arquitectura de dos perfiles de ENOLYTICS.</a:t>
            </a:r>
          </a:p>
          <a:p>
            <a:r>
              <a:t>La norma es aplicable a cualquier empresa turística, de cualquier tamaño, y es certificable frente a terceros.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 metodológica de las reseñas frente a la encuesta: son datos NO reactivos, nadie los escribió para el</a:t>
            </a:r>
          </a:p>
          <a:p>
            <a:r>
              <a:t>investigador. Desventaja: sesgo de autoselección (escribe el muy satisfecho y el muy insatisfecho).</a:t>
            </a:r>
          </a:p>
          <a:p>
            <a:r>
              <a:t>Anticipar que Meneses et al. (2023) señalan las esperas y la organización como origen de insatisfacción: en la</a:t>
            </a:r>
          </a:p>
          <a:p>
            <a:r>
              <a:t>parte II veremos que el corpus del Marco lo confirma.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pregunta que más sale en cualquier sala («¿esto no es espiar?»). Contestarla antes de que la hagan.</a:t>
            </a:r>
          </a:p>
          <a:p>
            <a:r>
              <a:t>Distinción útil para el alumnado: dato PÚBLICO no equivale a dato LIBRE. Una reseña es pública, pero su autor</a:t>
            </a:r>
          </a:p>
          <a:p>
            <a:r>
              <a:t>sigue siendo una persona identificable; por eso los análisis son agregados y el autor no entra en ninguno.</a:t>
            </a:r>
          </a:p>
          <a:p>
            <a:r>
              <a:t>Reconocer el punto en revisión (nombre de perfil en el listado de la ficha) es más creíble que afirmar que</a:t>
            </a:r>
          </a:p>
          <a:p>
            <a:r>
              <a:t>todo está resuelto.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los cuadrantes en voz alta. «Posible exceso» es el que más cuesta entender: se está invirtiendo en</a:t>
            </a:r>
          </a:p>
          <a:p>
            <a:r>
              <a:t>algo que el cliente no valora especialmente. «Concéntrese aquí» justifica todo el método.</a:t>
            </a:r>
          </a:p>
          <a:p>
            <a:r>
              <a:t>Punto para el alumnado: el IPA es de 1977; lo innovador del proyecto no es el gráfico sino (a) de dónde salen</a:t>
            </a:r>
          </a:p>
          <a:p>
            <a:r>
              <a:t>los dos ejes (reseñas) y (b) las extensiones competitiva y dinámica.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literal de la memoria. Las cuatro viñetas son la descomposición operativa que luego se contrasta en la parte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la tabla entera. Señalar que combina fuentes públicas (INE, Dataestur, Google Trends) con cuestionarios</a:t>
            </a:r>
          </a:p>
          <a:p>
            <a:r>
              <a:t>propios para lo que no existe en abierto. En la parte II se verá qué indicadores se han cubierto ya con fuentes</a:t>
            </a:r>
          </a:p>
          <a:p>
            <a:r>
              <a:t>públicas y cuáles siguen pendientes de cuestionario.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Anunciar aquí la desviación tecnológica para que no parezca escondida cuando aparezca en la parte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prioridad P4A (desestacionalizar) reaparece en la parte II con el hallazgo de los cruceros.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se encuentra, en el momento de la sesión, entre las fases 2 y 3: infraestructura construida y piloto en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Mención para el alumnado: los TFG y TFM previstos en el plan de divulgación son una vía real de participación en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Anunciar que se hará una demostración en vivo al final de esta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pipeline de izquierda a derecha. Para el alumnado: la estructura en paquetes (ingesta → etl → nlp →</a:t>
            </a:r>
          </a:p>
          <a:p>
            <a:r>
              <a:t>analitica → dashboard) es la traducción directa de los dos subsistemas de la memoria (ETL + visualización).</a:t>
            </a:r>
          </a:p>
          <a:p>
            <a:r>
              <a:t>La desviación tecnológica es legítima porque está argumentada y documentada; lo que no sería aceptable es</a:t>
            </a:r>
          </a:p>
          <a:p>
            <a:r>
              <a:t>ocultarla.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código de tres niveles es una decisión de rigor: el usuario siempre sabe cuánto fiarse de una cifra.</a:t>
            </a:r>
          </a:p>
          <a:p>
            <a:r>
              <a:t>Ejemplo de estimación: la curva mensual de afluencia enoturística, aproximada por el volumen de reseñas por 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efecto techo es una limitación conocida en investigación de satisfacción: las escalas se saturan por arriba.</a:t>
            </a:r>
          </a:p>
          <a:p>
            <a:r>
              <a:t>Aquí condiciona dos decisiones: (1) medir el sentimiento del texto, no las estrellas; (2) el modelo de Kano no</a:t>
            </a:r>
          </a:p>
          <a:p>
            <a:r>
              <a:t>resulta aplicable en su versión absoluta (se verá más adelante).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el alumnado: elección de léxico + BERT frente a un modelo generativo por TRAZABILIDAD (se puede señalar qué</a:t>
            </a:r>
          </a:p>
          <a:p>
            <a:r>
              <a:t>palabra disparó qué atributo) y REPRODUCIBILIDAD (mismo dato, misma salida).</a:t>
            </a:r>
          </a:p>
          <a:p>
            <a:r>
              <a:t>El léxico incluyó correcciones de polisemia (p. ej., «cara» como rostro vs. como precio) detectadas en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el alumnado: la validación no es un paso final, es continua. Cada error encontrado se corrige en el léxico,</a:t>
            </a:r>
          </a:p>
          <a:p>
            <a:r>
              <a:t>se recalcula el pipeline completo y se mide cuánto cambian los resultados. El caso de «cara» es instructivo</a:t>
            </a:r>
          </a:p>
          <a:p>
            <a:r>
              <a:t>precisamente porque casi no cambió nada: medir el impacto de una corrección también es validar.</a:t>
            </a:r>
          </a:p>
          <a:p>
            <a:r>
              <a:t>El caso de «tiempo» muestra lo contrario: un error de léxico puede mover un atributo 0,34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 útil: el agua caliente en un hotel. Nadie la menciona cuando funciona; hunde la valoración cuando falta.</a:t>
            </a:r>
          </a:p>
          <a:p>
            <a:r>
              <a:t>Contar menciones la haría parecer irrelevante.</a:t>
            </a:r>
          </a:p>
          <a:p>
            <a:r>
              <a:t>Para el alumnado: la asimetría penalización/recompensa es lo que conecta el PRCA con el modelo de Kano.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Diez segundos de silencio para que lo lean. Después: primero los dos puntos naranjas; luego «vino y cata» en</a:t>
            </a:r>
          </a:p>
          <a:p>
            <a:r>
              <a:t>posible exceso. No dice que el vino no importe: dice que es tan consistentemente bueno que ya no diferencia.</a:t>
            </a:r>
          </a:p>
          <a:p>
            <a:r>
              <a:t>Los umbrales son las medias, criterio habitual en la literatura del IPA; en la guía de la plataforma se declaran.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Lección metodológica: no afirmar cambios por debajo del ruido. Sería fácil decir «la gastronomía mejora»; no es</a:t>
            </a:r>
          </a:p>
          <a:p>
            <a:r>
              <a:t>defendible.</a:t>
            </a:r>
          </a:p>
          <a:p>
            <a:r>
              <a:t>Nota interna: en las notas del proyecto figuró durante meses que el atributo que empeoraba era «organización»;</a:t>
            </a:r>
          </a:p>
          <a:p>
            <a:r>
              <a:t>al recalcular para esta sesión se comprobó que era «precio». Es un buen ejemplo de por qué se rehacen las cifras</a:t>
            </a:r>
          </a:p>
          <a:p>
            <a:r>
              <a:t>antes de presentarlas.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con un hotel: el agua caliente es básico (su falta enfada; su presencia no se agradece); el tamaño de</a:t>
            </a:r>
          </a:p>
          <a:p>
            <a:r>
              <a:t>la habitación es de desempeño; una nota de bienvenida manuscrita es de entusiasmo.</a:t>
            </a:r>
          </a:p>
          <a:p>
            <a:r>
              <a:t>Mensaje para el alumnado: el IPA y Kano no son métodos rivales, son dos lecturas de la misma estructura de</a:t>
            </a:r>
          </a:p>
          <a:p>
            <a:r>
              <a:t>datos, y el PRCA es lo que permite obtener las dos de una sola regresión. Esto prepara la diapositiva</a:t>
            </a:r>
          </a:p>
          <a:p>
            <a:r>
              <a:t>siguiente, donde se ve que en el Marco la lectura de Kano no discrimina por el efecto techo.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el alumnado es probablemente la diapositiva más formativa: qué hacer cuando el modelo previsto no es</a:t>
            </a:r>
          </a:p>
          <a:p>
            <a:r>
              <a:t>aplicable a los datos. La respuesta no es forzarlo ni ocultarlo, sino documentar por qué y adaptar.</a:t>
            </a:r>
          </a:p>
          <a:p>
            <a:r>
              <a:t>Ejemplos de Kano en hotelería: agua caliente (básico), tamaño de habitación (desempeño), nota manuscrita de</a:t>
            </a:r>
          </a:p>
          <a:p>
            <a:r>
              <a:t>bienvenida (deleitador).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Explicación llana de los dos ejes: dos bodegas compiten de verdad cuando se dirigen al mismo visitante Y tienen</a:t>
            </a:r>
          </a:p>
          <a:p>
            <a:r>
              <a:t>medios parecidos para atenderlo. Si solo coincide una de las dos cosas, la competencia es más floja.</a:t>
            </a:r>
          </a:p>
          <a:p>
            <a:r>
              <a:t>El resultado alimenta el informe PDF por bodega y la pestaña Competidores de la ficha.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Distinguir los dos bloques de umbrales es una exigencia de rigor: unos tienen justificación estadística o</a:t>
            </a:r>
          </a:p>
          <a:p>
            <a:r>
              <a:t>bibliográfica; otros son decisiones legítimas del equipo y se presentan como tales.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conectividad aérea no estaba en la memoria; apareció trabajando. Se presenta como valor añadido: la memoria</a:t>
            </a:r>
          </a:p>
          <a:p>
            <a:r>
              <a:t>comprometía «capacidad predictiva» sin nombrar fuente, y las búsquedas de vuelo miran al futuro.</a:t>
            </a:r>
          </a:p>
          <a:p>
            <a:r>
              <a:t>Estados Unidos: mejor conversión (5,87 %) y estancia más larga (12,8 días), sin vuelo directo.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explícitamente que la curva de enoturismo es un proxy (ámbar en la plataforma). No existe afluencia</a:t>
            </a:r>
          </a:p>
          <a:p>
            <a:r>
              <a:t>mensual publicada por bodega.</a:t>
            </a:r>
          </a:p>
          <a:p>
            <a:r>
              <a:t>Comparación anual con el mismo año (2024) porque ACEVIN llega hasta 2024 y los cruceros hasta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Momento de la DEMO en vivo. Recorrido sugerido (8 minutos): Resumen ejecutivo → Las 7 inteligencias / Clientes</a:t>
            </a:r>
          </a:p>
          <a:p>
            <a:r>
              <a:t>(mapa IPA en vivo) → Bodega individual (competidores + descarga del PDF) → Simulador.</a:t>
            </a:r>
          </a:p>
          <a:p>
            <a:r>
              <a:t>Plan B si falla la conexión: capturas de pantalla y un PDF ya descargado. Comprobar media hora antes que la</a:t>
            </a:r>
          </a:p>
          <a:p>
            <a:r>
              <a:t>aplicación está despierta (Streamlit Cloud suspende las que llevan tiempo sin visitas).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esto es una decisión de credibilidad: una herramienta que nunca ha fallado es una herramienta que nadie</a:t>
            </a:r>
          </a:p>
          <a:p>
            <a:r>
              <a:t>ha usado. La numeración de las observaciones se mantuvo para poder decir «la 4» y entenderse en el equipo.</a:t>
            </a:r>
          </a:p>
          <a:p>
            <a:r>
              <a:t>La observación 8 es un buen ejemplo de diagnóstico: se reportó como un problema de leyenda y la causa estaba en</a:t>
            </a:r>
          </a:p>
          <a:p>
            <a:r>
              <a:t>otro sitio (el título del gráfico sin texto); verificar en un navegador real evitó arreglar el síntoma.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aportación se corresponde con un compromiso de la memoria o con un valor añadido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que el anexo A es informativo: la norma invita a cada empresa a fijar sus propios indicadores. La tabla</a:t>
            </a:r>
          </a:p>
          <a:p>
            <a:r>
              <a:t>muestra que muchos de los que propone ya se calculan en la plataforma para las 42 bodegas del Marco sin que</a:t>
            </a:r>
          </a:p>
          <a:p>
            <a:r>
              <a:t>ninguna haya tenido que aportar datos.</a:t>
            </a:r>
          </a:p>
          <a:p>
            <a:r>
              <a:t>El apartado 5.3 h) y el anexo A.1 hablan de intercambio bidireccional de datos entre empresa y destino: es</a:t>
            </a:r>
          </a:p>
          <a:p>
            <a:r>
              <a:t>exactamente la arquitectura de dos perfiles de ENOLYTICS.</a:t>
            </a:r>
          </a:p>
          <a:p>
            <a:r>
              <a:t>Decir explícitamente que esto no es una certificación: es una lectura de correspondencia.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de honestidad: un proyecto a mitad de plazo que declara el 100 % cumplido no es creíble. Lo pendiente está identificado y priorizado.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el alumnado: la columna de limitaciones es un modelo de apartado de limitaciones de TFG; la de líneas futuras, una oferta real de temas.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 frecuentes:</a:t>
            </a:r>
          </a:p>
          <a:p>
            <a:r>
              <a:t>· «¿Es espiar a los clientes?» → reseñas públicas escritas para ser leídas; se analizan textos agregados, no personas.</a:t>
            </a:r>
          </a:p>
          <a:p>
            <a:r>
              <a:t>· «¿Quién lo mantiene al acabar el proyecto?» → software libre en servidor gratuito; el coste recurrente es actualizar</a:t>
            </a:r>
          </a:p>
          <a:p>
            <a:r>
              <a:t>  el corpus (decenas de euros al año).</a:t>
            </a:r>
          </a:p>
          <a:p>
            <a:r>
              <a:t>· «¿Sirve para otra denominación de origen?» → sí; diseño modular y replicable, objetivo declarado en la memoria.</a:t>
            </a:r>
          </a:p>
          <a:p>
            <a:r>
              <a:t>· «¿Por qué Google y no TripAdvisor?» → volumen; TripAdvisor está en las líneas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6793992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6793992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6793992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6793992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D98A"/>
                </a:solidFill>
                <a:latin typeface="Calibri"/>
              </a:rPr>
              <a:t>PROYECTO ENOLYTICS · FEDER ANDALUCÍA 2021-2027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6EFE3"/>
                </a:solidFill>
                <a:latin typeface="Georgia"/>
              </a:rPr>
              <a:t>Inteligencia competitiva integrada para la gestión enoturística del Marco de Jerez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BEAC"/>
                </a:solidFill>
                <a:latin typeface="Calibri"/>
              </a:rPr>
              <a:t>De la memoria científico-técnica a la plataforma: minería de textos, análisis de importancia-desempeño y un cuadro de mando para bodegas y gestores del destino.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6EFE3"/>
                </a:solidFill>
                <a:latin typeface="Calibri"/>
              </a:rPr>
              <a:t>Cursos de Verano de la Universidad de Cádiz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BEAC"/>
                </a:solidFill>
                <a:latin typeface="Calibri"/>
              </a:rPr>
              <a:t>IP: María Paula Lechuga Sancho · Co-IP: Antonio Rafael Ramos Rodríguez
Equipo: Alfredo Sánchez-Roselly Navarro · Fernando Martín-Hidalgo (Bodegas Emilio Hidalgo) · Águeda Caputto Mateos (Bodegas Tradición) · José Luis Baños Ramírez (Ruta del Vino y Brandy de Jerez)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6EFE3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F6EFE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ÍNDICE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Estructura de la sesión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5135727" cy="420624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0167" y="1563624"/>
            <a:ext cx="5135727" cy="420624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792224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3B1E"/>
                </a:solidFill>
                <a:latin typeface="Calibri"/>
              </a:rPr>
              <a:t>PARTE I · EL PROYECTO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12264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1B19"/>
                </a:solidFill>
                <a:latin typeface="Georgia"/>
              </a:rPr>
              <a:t>Según la memoria científico-técnica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60904"/>
            <a:ext cx="45870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El enoturismo como objeto de estudio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Inteligencia competitiva e inteligencia integrada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Destinos y empresas turísticas inteligentes: UNE 178502 y UNE 178510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Reseñas online, big data y ética del dato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Análisis IPA, objetivo, indicadores y arquitectura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Alineación estratégica, equipo, cronograma y presupuesto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487" y="1792224"/>
            <a:ext cx="51357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3B1E"/>
                </a:solidFill>
                <a:latin typeface="Calibri"/>
              </a:rPr>
              <a:t>PARTE II · LA APLICACIÓN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2112264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1B19"/>
                </a:solidFill>
                <a:latin typeface="Georgia"/>
              </a:rPr>
              <a:t>Desarrollo, datos, análisis y aportaciones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2660904"/>
            <a:ext cx="4587087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Cómo se ha construido: arquitectura y decisiones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Qué datos usa: fuentes, corpus y trazabilidad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Qué análisis hace: PLN y su validación, PRCA, IPA/IPCA/DIPA, tres factores, Kano, competidores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Funcionalidades y validación con usuarios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Aportaciones al sector, encaje en la UNE 178510, limitaciones y líneas futuras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6793992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6793992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6793992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6793992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BD98A"/>
                </a:solidFill>
                <a:latin typeface="Calibri"/>
              </a:rPr>
              <a:t>PARTE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6EFE3"/>
                </a:solidFill>
                <a:latin typeface="Georgia"/>
              </a:rPr>
              <a:t>El proyecto según la memoria científico-técnica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BEAC"/>
                </a:solidFill>
                <a:latin typeface="Calibri"/>
              </a:rPr>
              <a:t>Contexto, marco teórico, objetivo, sistema de indicadores, arquitectura prevista, alineación estratégica, equipo y presupuesto. Memoria firmada el 14 de febrero de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6EFE3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F6EFE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El enoturismo como sector estratégico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Actividad clave del turismo y motor de la economía rural en las regiones vitivinícolas.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345429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VISITANTES A BODEGAS Y MUSEOS · ESPAÑA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3288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2.977.115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099816"/>
            <a:ext cx="308853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Crecimiento del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+18,2 %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respecto al año anterior (ACEVIN, 2024).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8698" y="2112264"/>
            <a:ext cx="345429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9866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IMPACTO ECONÓMICO · ESPAÑA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866" y="253288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76,5 M€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9866" y="3099816"/>
            <a:ext cx="308853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Gasto medio diario del enoturista: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201,80 €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(ACEVIN, 2023).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1596" y="2112264"/>
            <a:ext cx="345429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51596" y="2112264"/>
            <a:ext cx="54864" cy="160020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2764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MARCO DE JEREZ ·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2764" y="253288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382.716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2764" y="3099816"/>
            <a:ext cx="308853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Entre las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tres rutas del vino más visitadas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 España. En 2024: 425.652.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986783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500" i="0" b="0">
                <a:solidFill>
                  <a:srgbClr val="57544E"/>
                </a:solidFill>
                <a:latin typeface="Calibri"/>
              </a:rPr>
              <a:t>El crecimiento plantea retos: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diferenciar la oferta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,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gestionar la experiencia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del visitante y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adaptar la promoción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a un mercado digitalizado (KPMG, 2023; ACEVIN, 2024).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500" i="0" b="0">
                <a:solidFill>
                  <a:srgbClr val="57544E"/>
                </a:solidFill>
                <a:latin typeface="Calibri"/>
              </a:rPr>
              <a:t>Las expectativas del consumidor, la segmentación y una competencia cada vez más intensa dificultan la captación y fidelización (Shin y Nicolau, 2022).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500" i="0" b="0">
                <a:solidFill>
                  <a:srgbClr val="57544E"/>
                </a:solidFill>
                <a:latin typeface="Calibri"/>
              </a:rPr>
              <a:t>Consecuencia: las bodegas deben analizar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de forma continua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a competidores y consumidores.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Fuentes: memoria científico-técnica del proyecto; ACEVIN (2023, 2024); KPMG (2023); Shin y Nicolau (2022).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Inteligencia competitiva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Definición adoptada por el proyecto y su relevancia para las empresas turísticas.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10820095" cy="141732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112264"/>
            <a:ext cx="54864" cy="141732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76856"/>
            <a:ext cx="102714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i="1" b="0">
                <a:solidFill>
                  <a:srgbClr val="1C1B19"/>
                </a:solidFill>
                <a:latin typeface="Calibri"/>
              </a:rPr>
              <a:t>«Proceso de identificación de los competidores, recopilación de inteligencia relacionada con las prácticas de los competidores de una manera ética y legal, almacenamiento de esta inteligencia en una estructura de fácil acceso, difusión de manera oportuna y análisis de la inteligencia recopilada para decidir cómo ser más reactivo o proactivo en la industria.»</a:t>
            </a:r>
          </a:p>
          <a:p>
            <a:pPr>
              <a:spcAft>
                <a:spcPts val="0"/>
              </a:spcAft>
            </a:pPr>
            <a:r>
              <a:rPr sz="1100" i="0" b="0">
                <a:solidFill>
                  <a:srgbClr val="8B877E"/>
                </a:solidFill>
                <a:latin typeface="Calibri"/>
              </a:rPr>
              <a:t>Köseoglu, Sehitoglu, Ross y Parnell (2021, p. 532), Tourism Management Perspectives.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58184"/>
            <a:ext cx="1082009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Proceso de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recopilación, procesamiento, análisis y difusión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que convierte la información en inteligencia procesable: conocimiento que ayuda a decidir y planificar (du Toit, 2015).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También es un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producto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: informa sobre el comportamiento presente y futuro de clientes, competidores, proveedores, mercado, tecnología y entorno (Yap et al., 2014).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Considerada la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cuarta razón de supervivencia empresarial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, tras el capital, la tecnología y el talento (Bao, 2020).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Las empresas turísticas operan en entornos inciertos, dinámicos y competitivos, lo que la hace crucial (Köseoglu et al., 2021; Settembre-Blundo et al., 2021).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Inteligencia integrada: seis fuentes y una séptima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El modelo de Bulger (2016), ampliado por el proyecto con la Inteligencia en Sostenibilidad.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6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12264"/>
          <a:ext cx="108173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6035040"/>
                <a:gridCol w="231343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Fuente de inteligencia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Qué evalúa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Categoría SEGITTUR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Económica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Impacto económico en el territorio, rentabilidad, contribución al empleo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Sostenibilidad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De mercado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Tendencias, patrones de búsqueda online, predisposición al gasto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Demanda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De competidores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Oferta frente a otros destinos, estrategias diferenciadoras, precios, reputación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Oferta / Demanda / Sost.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De clientes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Perfil, motivaciones, satisfacción, fidelización, canales de reserva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Demanda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De negocios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Infraestructura, servicios, formación del personal, innovación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Oferta / Sostenibilidad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Tecnológica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Adopción de tecnologías y accesibilidad universal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B19"/>
                          </a:solidFill>
                          <a:latin typeface="Calibri"/>
                        </a:rPr>
                        <a:t>Oferta / Sostenibilidad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B19"/>
                          </a:solidFill>
                          <a:latin typeface="Calibri"/>
                        </a:rPr>
                        <a:t>En sostenibilidad (nueva)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B19"/>
                          </a:solidFill>
                          <a:latin typeface="Calibri"/>
                        </a:rPr>
                        <a:t>Impacto ambiental, certificaciones, economía circular, transporte sostenible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C1B19"/>
                          </a:solidFill>
                          <a:latin typeface="Calibri"/>
                        </a:rPr>
                        <a:t>Sostenibilidad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5266944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i="0" b="0">
                <a:solidFill>
                  <a:srgbClr val="57544E"/>
                </a:solidFill>
                <a:latin typeface="Calibri"/>
              </a:rPr>
              <a:t>La inteligencia integrada enfatiza la </a:t>
            </a:r>
            <a:r>
              <a:rPr sz="1300" i="0" b="1">
                <a:solidFill>
                  <a:srgbClr val="1C1B19"/>
                </a:solidFill>
                <a:latin typeface="Calibri"/>
              </a:rPr>
              <a:t>naturaleza colectiva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de todos los conjuntos de inteligencia para lograr ventaja competitiva, en lugar de centrarse en uno solo (Bulger, 2011, 2016; Köseoglu et al., 2021). La séptima fuente se apoya en el marco de indicadores de SEGITTUR y en la Inteligencia Sostenible Integrada de Silvestre y Fonseca (2020), y en la visión de Ahmad (2015) del Business Intelligence como fuente de ventaja competitiva sostenible.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Tabla 1 de la memoria (elaboración propia a partir de SEGITTUR). Alineado con la norma UNE 178502 sobre Destinos Turísticos Inteligentes.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MARCO NORMATIVO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Destinos y empresas turísticas inteligentes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El marco de SEGITTUR y el CTN 178 de UNE: del destino (UNE 178501 y 178502) a la empresa (UNE 178510:2023).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5181447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76856"/>
            <a:ext cx="4724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DESTINO TURÍSTICO INTELIGENTE (DTI)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69464"/>
            <a:ext cx="472424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Modelo impulsado por la Secretaría de Estado de Turismo a través de SEGITTUR: mejora de la competitividad basada en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gobernanza y la corresponsabilidad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turística.</a:t>
            </a:r>
          </a:p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Cinco ejes: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gobernanza · innovación · tecnología · accesibilidad · sostenibilidad.</a:t>
            </a:r>
          </a:p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Objetivos: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competitividad y posicionamiento; experiencia del turista antes, durante y después del viaje; calidad de vida de los residentes; alianzas público-privadas; conectividad;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desestacionalización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</a:t>
            </a:r>
          </a:p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Normas: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UNE 178501:2018 (sistema de gestión del DTI)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UNE 178502:2022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(indicadores y herramientas), con la que se alinea el sistema de indicadores de ENOLYTICS.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2112264"/>
            <a:ext cx="5181447" cy="301752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2276856"/>
            <a:ext cx="4724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EMPRESA TURÍSTICA INTELIGENTE (ETI) · UNE 178510:2023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2569464"/>
            <a:ext cx="472424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i="1" b="0">
                <a:solidFill>
                  <a:srgbClr val="1C1B19"/>
                </a:solidFill>
                <a:latin typeface="Calibri"/>
              </a:rPr>
              <a:t>«Empresa turística que utiliza la tecnología y enfoques innovadores para mejorar sus sistemas de gestión, servicios, productos y la experiencia general de los turistas, aumentando su competitividad, buscando la accesibilidad para todos y la sostenibilidad en sus tres vertientes» (3.2).</a:t>
            </a:r>
          </a:p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Cinco ejes en paralelo con el DTI: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gestión · innovación · tecnología · accesibilidad · sostenibilidad, articulados en un sistema de gestión con ciclo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Planificar–Hacer–Verificar–Actuar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</a:t>
            </a:r>
          </a:p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Lo que la distingue (4.1):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«basa la toma de decisiones en el uso de dato». Recopila, procesa y analiza datos para comprender el mercado, personalizar, anticipar tendencias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gestionar comentarios y reseñas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12664"/>
            <a:ext cx="10820095" cy="1905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422392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B19"/>
                </a:solidFill>
                <a:latin typeface="Georgia"/>
              </a:rPr>
              <a:t>La ETI debe transformar datos en conocimiento y aplicarlo a la decisión (4.2). ENOLYTICS es una herramienta para eso.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UNE 178510:2023, apartados 0.2, 0.3, 3.2, 4.1 y 4.2; anexo B (panorama normativo DTI). Convive con el Sistema de Sostenibilidad Turística Integral (SSTI) de la Secretaría de Estado de Turismo.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C1B19"/>
                </a:solidFill>
                <a:latin typeface="Georgia"/>
              </a:rPr>
              <a:t>Reseñas online y big data como fuente de inteligencia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63624"/>
            <a:ext cx="5181447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Más de 3.900 millones de usuarios de Internet;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más del 60 %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ha escrito reseñas online (Global Web Index, 2021).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En turismo, la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intangibilidad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del servicio hace que la experiencia de otros consumidores sea determinante en la decisión (Hu y Yang, 2021; Line et al., 2020).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El enfoque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big data analytics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aprovecha datos de amplitud, profundidad y escala sin precedentes (Manyika et al., 2011; Mayer-Schönberger y Cukier, 2013).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En enoturismo, las reseñas influyen en la elección de bodega y sirven de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retroalimentación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para anticipar demandas (Quadri-Felitti y Fiore, 2016; Wu et al., 2024).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447" y="1563624"/>
            <a:ext cx="5181447" cy="402336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1792224"/>
            <a:ext cx="4632807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TÉCNICAS PREVISTAS EN LA MEMORIA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Minería de textos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para descubrir atributos del servicio en el texto libre.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Análisis de sentimiento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para medir el tono hacia cada atributo.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Modelado de temas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(LDA, BERT) para identificar temas latentes.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Aprendizaje automático y PLN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(Bi et al., 2019; Wu et al., 2024).</a:t>
            </a:r>
          </a:p>
          <a:p>
            <a:pPr>
              <a:spcAft>
                <a:spcPts val="0"/>
              </a:spcAft>
            </a:pPr>
            <a:r>
              <a:rPr sz="1200" i="0" b="0">
                <a:solidFill>
                  <a:srgbClr val="57544E"/>
                </a:solidFill>
                <a:latin typeface="Calibri"/>
              </a:rPr>
              <a:t>Atributos ya identificados en la literatura: calidad del vino, servicio del personal, paisaje y valor educativo (Shin y Nicolau, 2022; Wu et al., 2024). La insatisfacción suele derivar de ineficiencias operativas —esperas, personal inconsistente— (Meneses et al., 2023).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Ética y legalidad del 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La definición adoptada exige recopilar «de una manera ética y legal». Qué significa eso en la práctica.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345429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QUÉ DATOS SE USAN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32888"/>
            <a:ext cx="3088538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Solo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contenido público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(reseñas publicadas para ser leídas, webs de las bodegas)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estadísticas oficiales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 Ningún dato privado ni de clientes. Las reseñas se obtienen a través de un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proveedor de datos con API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, no por extracción directa del sitio; el navegador automatizado solo se usa sobre las webs de las propias bodegas.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112264"/>
            <a:ext cx="345429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8698" y="2112264"/>
            <a:ext cx="54864" cy="251460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9866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CÓMO SE TRATAN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866" y="2532888"/>
            <a:ext cx="3088538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Principios del RGPD: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minimización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(art. 5.1.c)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limitación de finalidad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, con las garantías del art. 89 para fines de investigación. El nombre del autor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no interviene en ningún análisis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: se trabaja con textos agregados por bodega, atributo e idioma. El corpus crudo no se versiona ni se redistribuye; solo los agregados.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1596" y="2112264"/>
            <a:ext cx="345429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2764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QUÉ EXIGE EL MARCO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2764" y="2532888"/>
            <a:ext cx="3088538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UNE 178510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(5.3 d) obliga a la ETI a tratar los datos personales conforme al RGPD y a proteger la información (5.3 e). La definición de inteligencia competitiva de Köseoglu et al. (2021) hace de la ética y la legalidad parte del propio concepto, no un añadido.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55464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Se analizan textos, no personas.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Ninguna conclusión de la plataforma se refiere a un individuo; todas se refieren a bodegas, atributos o al destino.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Punto en revisión: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el listado de reseñas de cada ficha reproduce el nombre público del perfil, como hace la propia plataforma de origen. Se está valorando mostrarlo sin ese nombre.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Reglamento (UE) 2016/679 (RGPD), arts. 4, 5 y 89 · UNE 178510:2023, 5.3 d) y e) · Köseoglu et al. (2021).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MARCO TEÓRICO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Análisis de importancia-desempeño y sus extensiones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El módulo analítico comprometido: IPA, IPCA, DIPA y DIPCA. Valor añadido frente a Shin y Nicolau (2022) y Wu et al. (2024).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276856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1B19"/>
                </a:solidFill>
                <a:latin typeface="Georgia"/>
              </a:rPr>
              <a:t>Posible exceso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679192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7544E"/>
                </a:solidFill>
                <a:latin typeface="Calibri"/>
              </a:rPr>
              <a:t>Baja importancia, alto desempeño: recursos que podrían reasignarse.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112264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2276856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1B19"/>
                </a:solidFill>
                <a:latin typeface="Georgia"/>
              </a:rPr>
              <a:t>Siga con el buen trabajo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679192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7544E"/>
                </a:solidFill>
                <a:latin typeface="Calibri"/>
              </a:rPr>
              <a:t>Alta importancia, alto desempeño: la fortaleza a sostener.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41064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05656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1B19"/>
                </a:solidFill>
                <a:latin typeface="Georgia"/>
              </a:rPr>
              <a:t>Baja prioridad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507992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7544E"/>
                </a:solidFill>
                <a:latin typeface="Calibri"/>
              </a:rPr>
              <a:t>Baja importancia, bajo desempeño: no merece recursos hoy.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941064"/>
            <a:ext cx="2697480" cy="173736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4105656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3B1E"/>
                </a:solidFill>
                <a:latin typeface="Georgia"/>
              </a:rPr>
              <a:t>Concéntrese aquí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507992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7544E"/>
                </a:solidFill>
                <a:latin typeface="Calibri"/>
              </a:rPr>
              <a:t>Alta importancia, bajo desempeño: donde actuar primero.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241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B877E"/>
                </a:solidFill>
                <a:latin typeface="Calibri"/>
              </a:rPr>
              <a:t>Eje horizontal: importancia (baja → alta)   |   eje vertical: desempeño (bajo → alto)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112264"/>
            <a:ext cx="496793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i="0" b="1">
                <a:solidFill>
                  <a:srgbClr val="1C1B19"/>
                </a:solidFill>
                <a:latin typeface="Calibri"/>
              </a:rPr>
              <a:t>IPA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— Importance-Performance Analysis (Martilla y James, 1977). Cruza importancia y desempeño de cada atributo en cuatro cuadrantes con nomenclatura de Albayrak (2015).</a:t>
            </a:r>
          </a:p>
          <a:p>
            <a:pPr>
              <a:spcAft>
                <a:spcPts val="900"/>
              </a:spcAft>
            </a:pPr>
            <a:r>
              <a:rPr sz="1300" i="0" b="1">
                <a:solidFill>
                  <a:srgbClr val="1C1B19"/>
                </a:solidFill>
                <a:latin typeface="Calibri"/>
              </a:rPr>
              <a:t>IPCA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— Importance-Performance Competitor Analysis. Sustituye el desempeño absoluto por la </a:t>
            </a:r>
            <a:r>
              <a:rPr sz="1300" i="0" b="1">
                <a:solidFill>
                  <a:srgbClr val="1C1B19"/>
                </a:solidFill>
                <a:latin typeface="Calibri"/>
              </a:rPr>
              <a:t>brecha frente a los competidores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(Albayrak, 2015). Corrige la principal limitación del IPA.</a:t>
            </a:r>
          </a:p>
          <a:p>
            <a:pPr>
              <a:spcAft>
                <a:spcPts val="900"/>
              </a:spcAft>
            </a:pPr>
            <a:r>
              <a:rPr sz="1300" i="0" b="1">
                <a:solidFill>
                  <a:srgbClr val="1C1B19"/>
                </a:solidFill>
                <a:latin typeface="Calibri"/>
              </a:rPr>
              <a:t>DIPA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— Dynamic IPA. Aplicación repetida en distintos periodos para detectar </a:t>
            </a:r>
            <a:r>
              <a:rPr sz="1300" i="0" b="1">
                <a:solidFill>
                  <a:srgbClr val="1C1B19"/>
                </a:solidFill>
                <a:latin typeface="Calibri"/>
              </a:rPr>
              <a:t>cambios de tendencia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y actuar de forma proactiva.</a:t>
            </a:r>
          </a:p>
          <a:p>
            <a:pPr>
              <a:spcAft>
                <a:spcPts val="900"/>
              </a:spcAft>
            </a:pPr>
            <a:r>
              <a:rPr sz="1300" i="0" b="1">
                <a:solidFill>
                  <a:srgbClr val="1C1B19"/>
                </a:solidFill>
                <a:latin typeface="Calibri"/>
              </a:rPr>
              <a:t>DIPCA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— Combinación de ambas: evolución del </a:t>
            </a:r>
            <a:r>
              <a:rPr sz="1300" i="0" b="1">
                <a:solidFill>
                  <a:srgbClr val="1C1B19"/>
                </a:solidFill>
                <a:latin typeface="Calibri"/>
              </a:rPr>
              <a:t>desempeño competitivo en el tiempo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.</a:t>
            </a:r>
          </a:p>
          <a:p>
            <a:pPr>
              <a:spcAft>
                <a:spcPts val="0"/>
              </a:spcAft>
            </a:pPr>
            <a:r>
              <a:rPr sz="1150" i="0" b="0">
                <a:solidFill>
                  <a:srgbClr val="8B877E"/>
                </a:solidFill>
                <a:latin typeface="Calibri"/>
              </a:rPr>
              <a:t>Aplicaciones previas: cruceros (Bi et al., 2019), destinos (Albayrak, 2015), bodegas (Shin y Nicolau, 2022).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Objetivo del proyecto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10820095" cy="155448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563624"/>
            <a:ext cx="54864" cy="155448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746504"/>
            <a:ext cx="102714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i="1" b="0">
                <a:solidFill>
                  <a:srgbClr val="1C1B19"/>
                </a:solidFill>
                <a:latin typeface="Calibri"/>
              </a:rPr>
              <a:t>«Desarrollar un modelo avanzado de inteligencia competitiva integrada que permita la creación de una plataforma digital o dashboard para optimizar la gestión y planificación de destinos y empresas enoturísticas en el Marco de Jerez.»</a:t>
            </a:r>
          </a:p>
          <a:p>
            <a:pPr>
              <a:spcAft>
                <a:spcPts val="0"/>
              </a:spcAft>
            </a:pPr>
            <a:r>
              <a:rPr sz="1100" i="0" b="0">
                <a:solidFill>
                  <a:srgbClr val="8B877E"/>
                </a:solidFill>
                <a:latin typeface="Calibri"/>
              </a:rPr>
              <a:t>Memoria científico-técnica, apartado «Introducción».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92424"/>
            <a:ext cx="1082009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Técnicas: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minería de textos, análisis de sentimiento y modelado de temas sobre contenido generado por los usuarios (TripAdvisor, Google Reviews, redes sociales).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Herramientas analíticas: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IPA, IPCA, DIPA y DIPCA para evaluar la evolución temporal y la competitividad de los atributos.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Entregable: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un cuadro de mando interactivo que integre datos estructurados (indicadores económicos, sociales, de sostenibilidad) y no estructurados (reseñas), con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recomendaciones accionables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Diferencial declarado: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«no solo recopila datos, sino que los transforma en inteligencia procesable para la toma de decisiones estratégicas».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TABLA 1 DE LA MEMORIA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Sistema integrado de indicadores y fuentes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Núcleo de datos que alimenta los modelos IPA, IPCA, DIPA y DIPCA.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12264"/>
          <a:ext cx="10817352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669280"/>
                <a:gridCol w="3319272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Inteligencia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Indicadores clave previstos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Fuentes de datos previstas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Económica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Impacto económico · contribución al empleo · rentabilidad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INE, Dataestur · cuestionarios a bodegas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De mercado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Búsquedas online y RRSS · tendencias · comparación de demanda · predisposición al gasto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Google Trends, RRSS · analítica web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De competidores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Oferta vs. otros destinos · estrategias diferenciadoras · reputación online · precios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Análisis de RRSS y benchmarking · cuestionarios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De clientes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Perfil y comportamiento · motivaciones y fidelización · canales de reserva · volumen de visitas · satisfacción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Cuestionarios a visitantes · big data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De negocios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Bodegas abiertas al turismo · museos · enotecas · eventos · empleados · formación · innovación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OGD y AAPP · cuestionarios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Tecnológica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Adopción tecnológica (RA, visitas virtuales, reservas) · accesibilidad universal e índice digital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Cuestionarios · datos de OGD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En sostenibilidad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Consumo de agua y energía, huella de carbono · certificaciones · economía circular · transporte sostenible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OMT, Eurostat, INE, OIV… · encuestas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Fuente: Tabla 1 de la memoria, «Sistema Integrado de Indicadores para el Análisis del Enoturismo y fuentes de datos» (elaboración propia a partir de SEGITTUR).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DISEÑO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Arquitectura del modelo de medición prevista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518144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70992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SUBSISTEMA ETL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984248"/>
            <a:ext cx="4815687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Extracción, transformación y carga.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Recopila de fuentes ad hoc (encuestas), administrativas (APIs), estadísticas oficiales (INE, Dataestur) y, si procede, proveedores privados. Limpieza, normalización, eliminación de duplicados y enriquecimiento.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447" y="1563624"/>
            <a:ext cx="518144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5615" y="170992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SUBSISTEMA DE VISUALIZACIÓN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1984248"/>
            <a:ext cx="4815687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Cuadro de mando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con gráficos, mapas, tablas, filtros y personalización; control de permisos;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simulaciones y proyecciones de escenarios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 Inspirado en el Sistema de Inteligencia Turística de la Costa del Sol (Málaga).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i="0" b="1">
                <a:solidFill>
                  <a:srgbClr val="1C1B19"/>
                </a:solidFill>
                <a:latin typeface="Calibri"/>
              </a:rPr>
              <a:t>Tecnología prevista: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Azure Data Factory (ingesta), Azure SQL Database y Blob Storage (almacenamiento), Azure Analysis Services (modelado),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Power BI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(visualización), Active Directory, Key Vault y Monitor.</a:t>
            </a:r>
          </a:p>
          <a:p>
            <a:pPr>
              <a:spcAft>
                <a:spcPts val="800"/>
              </a:spcAft>
            </a:pPr>
            <a:r>
              <a:rPr sz="1400" i="0" b="1">
                <a:solidFill>
                  <a:srgbClr val="1C1B19"/>
                </a:solidFill>
                <a:latin typeface="Calibri"/>
              </a:rPr>
              <a:t>Implementación en tres fases: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piloto en dos bodegas (Emilio Hidalgo y Tradición) → expansión al resto del Marco → modelo ontológico para optimizar la recogida y el análisis.</a:t>
            </a:r>
          </a:p>
          <a:p>
            <a:pPr>
              <a:spcAft>
                <a:spcPts val="0"/>
              </a:spcAft>
            </a:pPr>
            <a:r>
              <a:rPr sz="1300" i="0" b="0">
                <a:solidFill>
                  <a:srgbClr val="7A3B1E"/>
                </a:solidFill>
                <a:latin typeface="Calibri"/>
              </a:rPr>
              <a:t>En la parte II se explica por qué el prototipo se ha construido finalmente con </a:t>
            </a:r>
            <a:r>
              <a:rPr sz="1300" i="0" b="1">
                <a:solidFill>
                  <a:srgbClr val="7A3B1E"/>
                </a:solidFill>
                <a:latin typeface="Calibri"/>
              </a:rPr>
              <a:t>Python y Streamlit</a:t>
            </a:r>
            <a:r>
              <a:rPr sz="1300" i="0" b="0">
                <a:solidFill>
                  <a:srgbClr val="7A3B1E"/>
                </a:solidFill>
                <a:latin typeface="Calibri"/>
              </a:rPr>
              <a:t> y no con Power BI sobre Azure, y qué implicaciones tiene.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RELEVANCIA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Alineación estratégica y apoyos institucionales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ESTRATEGIA DEL SECTOR VITIVINÍCOLA ESPAÑOL 2022-2027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98424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Digitalización y sostenibilidad como ejes de transformación. La plataforma evalúa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madurez digital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 las bodegas.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156362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9866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DESTINOS TURÍSTICOS INTELIGENTES (SEGITTUR)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866" y="198424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Integrar tecnologías emergentes en la gestión de destinos. Indicadores alineados con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norma UNE 178502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1596" y="156362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1596" y="1563624"/>
            <a:ext cx="54864" cy="201168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2764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PROGRAMA OPERATIVO FEDER ANDALUCÍA 2021-2027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2764" y="198424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P1A y P2A: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sistemas y metodologías para gestión y promoción ·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P4A: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reducir la estacionalidad ·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P3A: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tecnologías digitales para sostenibilidad y competitividad.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49624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i="0" b="1">
                <a:solidFill>
                  <a:srgbClr val="1C1B19"/>
                </a:solidFill>
                <a:latin typeface="Calibri"/>
              </a:rPr>
              <a:t>Apoyos del sector (cartas de interés):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Consejo Regulador de las DD.OO. «Jerez-Xérès-Sherry» y «Manzanilla-Sanlúcar de Barrameda», asociación Ruta del Vino y Brandy del Marco de Jerez, Patronato Provincial de Turismo de la Diputación de Cádiz y bodegas de larga trayectoria enoturística.</a:t>
            </a:r>
          </a:p>
          <a:p>
            <a:pPr>
              <a:spcAft>
                <a:spcPts val="0"/>
              </a:spcAft>
            </a:pPr>
            <a:r>
              <a:rPr sz="1400" i="0" b="1">
                <a:solidFill>
                  <a:srgbClr val="1C1B19"/>
                </a:solidFill>
                <a:latin typeface="Calibri"/>
              </a:rPr>
              <a:t>Diseño modular, escalable y replicable: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el Marco de Jerez como caso inicial y la metodología como modelo de referencia para otras regiones vitivinícolas de Andalucía y España.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PLAN DE TRABAJO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Equipo y cronograma de actuaciones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Plazo de ejecución: 24 meses, en cinco fases (Tabla 2 de la memoria).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12264"/>
          <a:ext cx="69494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73152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Hitos principales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Meses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1 · Planificación y diseño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Requisitos, análisis de necesidades, diseño del modelo de medición (indicadores y KPI), cuestionarios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1-4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2 · Infraestructura y datos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Implementación de la arquitectura, recopilación de datos de prueba, desarrollo del dashboard, integración de fuentes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5-10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3 · Prueba piloto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Lanzamiento en Emilio Hidalgo y Tradición, evaluación de calidad de datos, ajustes, informes preliminares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11-16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4 · Implementación y escalabilidad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Optimización, expansión a más bodegas y regiones, formación, evaluación de impacto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17-22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5 · Consolidación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Presentación de resultados y recomendaciones, informe final de impacto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23-24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909560" y="2112264"/>
            <a:ext cx="3596335" cy="288036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295144"/>
            <a:ext cx="3139135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RESPONSABILIDADES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100" i="0" b="1">
                <a:solidFill>
                  <a:srgbClr val="1C1B19"/>
                </a:solidFill>
                <a:latin typeface="Calibri"/>
              </a:rPr>
              <a:t>ARRR</a:t>
            </a:r>
            <a:r>
              <a:rPr sz="1100" i="0" b="0">
                <a:solidFill>
                  <a:srgbClr val="57544E"/>
                </a:solidFill>
                <a:latin typeface="Calibri"/>
              </a:rPr>
              <a:t> · liderazgo técnico, supervisión metodológica, análisis de datos, validación del dashboard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100" i="0" b="1">
                <a:solidFill>
                  <a:srgbClr val="1C1B19"/>
                </a:solidFill>
                <a:latin typeface="Calibri"/>
              </a:rPr>
              <a:t>MPLS</a:t>
            </a:r>
            <a:r>
              <a:rPr sz="1100" i="0" b="0">
                <a:solidFill>
                  <a:srgbClr val="57544E"/>
                </a:solidFill>
                <a:latin typeface="Calibri"/>
              </a:rPr>
              <a:t> · validación de resultados, integración de indicadores, publicación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100" i="0" b="1">
                <a:solidFill>
                  <a:srgbClr val="1C1B19"/>
                </a:solidFill>
                <a:latin typeface="Calibri"/>
              </a:rPr>
              <a:t>ASR</a:t>
            </a:r>
            <a:r>
              <a:rPr sz="1100" i="0" b="0">
                <a:solidFill>
                  <a:srgbClr val="57544E"/>
                </a:solidFill>
                <a:latin typeface="Calibri"/>
              </a:rPr>
              <a:t> · desarrollo tecnológico e infraestructura de datos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100" i="0" b="1">
                <a:solidFill>
                  <a:srgbClr val="1C1B19"/>
                </a:solidFill>
                <a:latin typeface="Calibri"/>
              </a:rPr>
              <a:t>FMH, ACM</a:t>
            </a:r>
            <a:r>
              <a:rPr sz="1100" i="0" b="0">
                <a:solidFill>
                  <a:srgbClr val="57544E"/>
                </a:solidFill>
                <a:latin typeface="Calibri"/>
              </a:rPr>
              <a:t> · vinculación con las bodegas piloto, usabilidad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100" i="0" b="1">
                <a:solidFill>
                  <a:srgbClr val="1C1B19"/>
                </a:solidFill>
                <a:latin typeface="Calibri"/>
              </a:rPr>
              <a:t>JLBR</a:t>
            </a:r>
            <a:r>
              <a:rPr sz="1100" i="0" b="0">
                <a:solidFill>
                  <a:srgbClr val="57544E"/>
                </a:solidFill>
                <a:latin typeface="Calibri"/>
              </a:rPr>
              <a:t> · conexión con la Ruta del Vino y Brandy de Jerez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100" i="0" b="1">
                <a:solidFill>
                  <a:srgbClr val="1C1B19"/>
                </a:solidFill>
                <a:latin typeface="Calibri"/>
              </a:rPr>
              <a:t>Personal técnico-investigador</a:t>
            </a:r>
            <a:r>
              <a:rPr sz="1100" i="0" b="0">
                <a:solidFill>
                  <a:srgbClr val="57544E"/>
                </a:solidFill>
                <a:latin typeface="Calibri"/>
              </a:rPr>
              <a:t> (1 año, media jornada) · implantación en bodegas y formación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 · 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Presupuesto, impacto esperado y divulgación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5181447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563624"/>
            <a:ext cx="54864" cy="214884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70992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PRESUPUESTO TOTAL (24 MESES)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1984248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39.628 €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551176"/>
            <a:ext cx="4815687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Costes directos 36.025 € (personal 17.000 · equipamiento y fuentes de datos 7.500 · fungible 3.875 · servicios externos 4.950 · movilidad 1.500 · auditoría 1.200) · costes indirectos 10 %: 3.603 €.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1563624"/>
            <a:ext cx="5181447" cy="214884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1728216"/>
            <a:ext cx="4724247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IMPACTO ESPERADO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150" i="0" b="1">
                <a:solidFill>
                  <a:srgbClr val="1C1B19"/>
                </a:solidFill>
                <a:latin typeface="Calibri"/>
              </a:rPr>
              <a:t>Científico: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evidencia empírica sobre inteligencia competitiva en enoturismo, área aún incipiente.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150" i="0" b="1">
                <a:solidFill>
                  <a:srgbClr val="1C1B19"/>
                </a:solidFill>
                <a:latin typeface="Calibri"/>
              </a:rPr>
              <a:t>Técnico: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plataforma big data que convierte datos desestructurados en información accionable.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150" i="0" b="1">
                <a:solidFill>
                  <a:srgbClr val="1C1B19"/>
                </a:solidFill>
                <a:latin typeface="Calibri"/>
              </a:rPr>
              <a:t>Económico: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competitividad, dinamización rural, gasto turístico y empleo, planificación de inversiones.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150" i="0" b="1">
                <a:solidFill>
                  <a:srgbClr val="1C1B19"/>
                </a:solidFill>
                <a:latin typeface="Calibri"/>
              </a:rPr>
              <a:t>Social: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equilibrio territorial, profesionalización, accesibilidad e inclusión, cultura del vino.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86784"/>
            <a:ext cx="1082009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i="0" b="1">
                <a:solidFill>
                  <a:srgbClr val="1C1B19"/>
                </a:solidFill>
                <a:latin typeface="Calibri"/>
              </a:rPr>
              <a:t>Plan de divulgación: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1-2 TFM y 2-3 TFG · publicaciones en revistas JCR Q1 (Tourism Review, Current Issues in Tourism, IJCHM, Tourism Management Perspectives) · repositorio abierto RODIN de la UCA · congresos (Congreso Internacional de Enoturismo, OMT, ACEDE, AEDEM, EURAM) · ferias (FITUR, Enotur Wine Fest, Wine Innovation Summit) · talleres y guías para el sector · redes DTI, Redintur, RedVitis, GIENOL, NECSTouR.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6793992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6793992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6793992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6793992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BD98A"/>
                </a:solidFill>
                <a:latin typeface="Calibri"/>
              </a:rPr>
              <a:t>PARTE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6EFE3"/>
                </a:solidFill>
                <a:latin typeface="Georgia"/>
              </a:rPr>
              <a:t>La aplicación desarrollada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BEAC"/>
                </a:solidFill>
                <a:latin typeface="Calibri"/>
              </a:rPr>
              <a:t>Cómo se ha construido, qué datos usa, qué análisis y módulos tiene, sus funcionalidades y sus principales aportaciones al sector. Estado a septiembre de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6EFE3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F6EFE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VISIÓN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Qué se ha construido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Un cuadro de mando web, público y operativo, con dos perfiles de usuario y cinco vistas.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5181447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PARA EL GESTOR DEL DESTINO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32888"/>
            <a:ext cx="4815687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Cómo va el Marco en las siete inteligencias, dónde están las fugas de valor y qué palancas mueven la aguja. Recomendaciones priorizadas para el destino.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2112264"/>
            <a:ext cx="5181447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5615" y="225856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PARA CADA BODEGA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5615" y="2532888"/>
            <a:ext cx="4815687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Su reputación, sus competidores directos, sus fortalezas y debilidades, sus recomendaciones y un informe descargable de una página.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3849624"/>
          <a:ext cx="108173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43991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Vista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Qué ofrece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Resumen ejecutivo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Cuatro cifras del destino y semáforo de las siete inteligencias; las tres acciones más urgentes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Las 7 inteligencias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El análisis completo, una pestaña por inteligencia, con sus recomendaciones al pie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Bodega individual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Ficha, reputación, competidores directos, análisis IPA/IPCA propio, informe PDF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Simulador «¿y si…?»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Cuatro palancas para proyectar escenarios sobre cifras reales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Guía y metodología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Qué es cada apartado, de dónde sale cada dato y qué umbral aplica; descargable en PDF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Desplegada en Streamlit Community Cloud; código en GitHub (Antonio-Ramos-UCA/enolytics).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DESARROLLO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Cómo se ha hecho: arquitectura real del prototipo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1871411" cy="196596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00784"/>
            <a:ext cx="15970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3B1E"/>
                </a:solidFill>
                <a:latin typeface="Calibri"/>
              </a:rPr>
              <a:t>1 · Ingesta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39112"/>
            <a:ext cx="159709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13 módulos: catálogo, reseñas, ACEVIN, Dataestur, cruceros, conectividad aérea, Google Trends, auditoría web, accesibilidad, transporte, sostenibilidad, precios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2931" y="23408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B877E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2971" y="1563624"/>
            <a:ext cx="1871411" cy="196596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0131" y="1700784"/>
            <a:ext cx="15970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3B1E"/>
                </a:solidFill>
                <a:latin typeface="Calibri"/>
              </a:rPr>
              <a:t>2 · ETL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0131" y="2039112"/>
            <a:ext cx="159709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Normalización de reseñas a un formato común; vínculo con el catálogo; censo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0102" y="23408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B877E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0142" y="1563624"/>
            <a:ext cx="1871411" cy="196596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7302" y="1700784"/>
            <a:ext cx="15970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3B1E"/>
                </a:solidFill>
                <a:latin typeface="Calibri"/>
              </a:rPr>
              <a:t>3 · PLN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7302" y="2039112"/>
            <a:ext cx="159709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Léxico multilingüe de atributos; sentimiento por frase con BERT multilingüe; idioma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273" y="23408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B877E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7313" y="1563624"/>
            <a:ext cx="1871411" cy="196596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4473" y="1700784"/>
            <a:ext cx="15970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3B1E"/>
                </a:solidFill>
                <a:latin typeface="Calibri"/>
              </a:rPr>
              <a:t>4 · Analítica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473" y="2039112"/>
            <a:ext cx="159709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PRCA/Kano, IPA-IPCA-DIPA, competidores, co-ocurrencias, reputación, recomendaciones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4444" y="23408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B877E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34484" y="1563624"/>
            <a:ext cx="1871411" cy="196596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1644" y="1700784"/>
            <a:ext cx="15970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3B1E"/>
                </a:solidFill>
                <a:latin typeface="Calibri"/>
              </a:rPr>
              <a:t>5 · Cuadro de mando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1644" y="2039112"/>
            <a:ext cx="159709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Streamlit: 5 vistas, informe PDF, simulador, guía; identidad visual propia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03904"/>
            <a:ext cx="518144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  <a:buChar char="•"/>
            </a:pPr>
            <a:r>
              <a:rPr sz="1250" i="0" b="1">
                <a:solidFill>
                  <a:srgbClr val="1C1B19"/>
                </a:solidFill>
                <a:latin typeface="Calibri"/>
              </a:rPr>
              <a:t>Python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 extremo a extremo: paquete `enolytics/` con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25 módulos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y unas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8.400 líneas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; nombres en español, coherentes con el dominio.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250" i="0" b="1">
                <a:solidFill>
                  <a:srgbClr val="1C1B19"/>
                </a:solidFill>
                <a:latin typeface="Calibri"/>
              </a:rPr>
              <a:t>19 conjuntos de datos procesados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(CSV, versionados) alimentan el cuadro de mando; el corpus crudo no se versiona.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250" i="0" b="1">
                <a:solidFill>
                  <a:srgbClr val="1C1B19"/>
                </a:solidFill>
                <a:latin typeface="Calibri"/>
              </a:rPr>
              <a:t>Verificación automatizada: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pruebas de las cinco vistas y barridos con navegador real tras cada cambio.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4447" y="3803904"/>
            <a:ext cx="5181447" cy="182880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3047" y="3941064"/>
            <a:ext cx="472424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DESVIACIÓN DOCUMENTADA: STREAMLIT EN LUGAR DE POWER BI / AZURE</a:t>
            </a:r>
          </a:p>
          <a:p>
            <a:pPr>
              <a:spcAft>
                <a:spcPts val="0"/>
              </a:spcAft>
            </a:pPr>
            <a:r>
              <a:rPr sz="1150" i="0" b="1">
                <a:solidFill>
                  <a:srgbClr val="1C1B19"/>
                </a:solidFill>
                <a:latin typeface="Calibri"/>
              </a:rPr>
              <a:t>Por qué: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reproducibilidad (todo el pipeline en un lenguaje, auditable y depositable en RODIN), ausencia de licencias y replicabilidad por otros grupos. </a:t>
            </a:r>
            <a:r>
              <a:rPr sz="1150" i="0" b="1">
                <a:solidFill>
                  <a:srgbClr val="1C1B19"/>
                </a:solidFill>
                <a:latin typeface="Calibri"/>
              </a:rPr>
              <a:t>Qué se pierde: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integración corporativa y control de permisos de Azure. Recogida en la auditoría interna de coherencia memoria-prototipo.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Qué datos usa: fuentes y trazabilidad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Cada indicador del cuadro de mando declara su origen con un código de tres niveles.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12264"/>
          <a:ext cx="10817351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663440"/>
                <a:gridCol w="2194560"/>
                <a:gridCol w="103327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Qué aporta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Inteligencia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ACEVIN (Observatorio Rutas del Vino)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Visitantes e ingresos por ruta, oferta, perfil de la demanda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Económica · Negocios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Oficial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Dataestur / SEGITTUR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Gasto turístico, percepción, cruceros, conectividad aérea (búsquedas, reservas, asientos)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Económica · Mercado · Clientes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Oficial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FEV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Certificación Sustainable Wineries for Climate Protection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Sostenibilidad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Oficial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Ruta del Vino y Brandy de Jerez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Catálogo de 42 bodegas: servicios, ubicación, contacto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Negocios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Oficial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Reseñas de Google (vía Outscraper)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10.972 reseñas, 41 bodegas, 2011-2026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Clientes · Competidores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Observado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Google Trends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Interés de búsqueda frente a Rioja, Ribera del Duero y Rías Baixas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Mercado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Observado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Auditoría web propia + OpenStreetMap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Madurez digital, accesibilidad, sostenibilidad comunicada, transporte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Tecnológica · Sostenibilidad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Observado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5312664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Oficial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= estadística publicada por un organismo ·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Observado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= medido por el equipo de fuentes públicas ·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Estimación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= cálculo propio a partir de los anteriores, sin fuente directa, marcado como tal. Nunca se mezcla un dato oficial con una estimación sin advertirlo.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Indicadores de la Tabla 1 aún sin fuente abierta (empleo por bodega, consumos ambientales, precios verificados) se cubrirán con cuestionarios.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El corpus de reseñas y el efecto techo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2499283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563624"/>
            <a:ext cx="54864" cy="123444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709928"/>
            <a:ext cx="21335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RESEÑAS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1984248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1B19"/>
                </a:solidFill>
                <a:latin typeface="Georgia"/>
              </a:rPr>
              <a:t>10.972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7963" y="1563624"/>
            <a:ext cx="2499283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9131" y="1709928"/>
            <a:ext cx="21335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BODEGAS CON RESEÑAS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9131" y="1984248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1B19"/>
                </a:solidFill>
                <a:latin typeface="Georgia"/>
              </a:rPr>
              <a:t>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35224"/>
            <a:ext cx="2499283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081528"/>
            <a:ext cx="21335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CON TEXTO ANALIZABLE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355848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1B19"/>
                </a:solidFill>
                <a:latin typeface="Georgia"/>
              </a:rPr>
              <a:t>7.258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7963" y="2935224"/>
            <a:ext cx="2499283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9131" y="3081528"/>
            <a:ext cx="21335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PERIODO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9131" y="3355848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1B19"/>
                </a:solidFill>
                <a:latin typeface="Georgia"/>
              </a:rPr>
              <a:t>2011-2026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52544"/>
            <a:ext cx="518144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  <a:buChar char="•"/>
            </a:pPr>
            <a:r>
              <a:rPr sz="1250" i="0" b="0">
                <a:solidFill>
                  <a:srgbClr val="57544E"/>
                </a:solidFill>
                <a:latin typeface="Calibri"/>
              </a:rPr>
              <a:t>Multilingüe: español, inglés, alemán, francés, italiano, neerlandés… El idioma sirve como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proxy de procedencia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250" i="0" b="0">
                <a:solidFill>
                  <a:srgbClr val="57544E"/>
                </a:solidFill>
                <a:latin typeface="Calibri"/>
              </a:rPr>
              <a:t>Coste de descarga del corpus completo: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≈ 36 $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(API comercial). La barrera ya no es económica.</a:t>
            </a:r>
          </a:p>
          <a:p>
            <a:pPr marL="201168" indent="-201168">
              <a:spcAft>
                <a:spcPts val="500"/>
              </a:spcAft>
              <a:buChar char="•"/>
            </a:pPr>
            <a:r>
              <a:rPr sz="1250" i="0" b="0">
                <a:solidFill>
                  <a:srgbClr val="57544E"/>
                </a:solidFill>
                <a:latin typeface="Calibri"/>
              </a:rPr>
              <a:t>Nota media: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4,56 / 5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 Y ahí empieza el problema.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324447" y="1563624"/>
          <a:ext cx="5181447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ectangle 26"/>
          <p:cNvSpPr/>
          <p:nvPr/>
        </p:nvSpPr>
        <p:spPr>
          <a:xfrm>
            <a:off x="6324447" y="4626864"/>
            <a:ext cx="5181447" cy="118872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7327" y="4736592"/>
            <a:ext cx="4815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i="0" b="1">
                <a:solidFill>
                  <a:srgbClr val="1C1B19"/>
                </a:solidFill>
                <a:latin typeface="Calibri"/>
              </a:rPr>
              <a:t>Efecto techo: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tres de cada cuatro reseñas están en el máximo. Cuando casi todos puntúan 5, la media deja de discriminar —entre bodegas, entre años, entre atributos—. Obliga a bajar al </a:t>
            </a:r>
            <a:r>
              <a:rPr sz="1150" i="0" b="1">
                <a:solidFill>
                  <a:srgbClr val="1C1B19"/>
                </a:solidFill>
                <a:latin typeface="Calibri"/>
              </a:rPr>
              <a:t>texto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y limita cualquier método que necesite variación.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MÓDULO DE PLN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Del comentario libre al atributo puntuado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10820095" cy="100584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563624"/>
            <a:ext cx="54864" cy="1005840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700784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i="1" b="0">
                <a:solidFill>
                  <a:srgbClr val="1C1B19"/>
                </a:solidFill>
                <a:latin typeface="Calibri"/>
              </a:rPr>
              <a:t>«El vino espectacular y el guía sabía muchísimo, pero tardaron cuarenta minutos en empezar y nadie nos dijo nada. Por 25 € esperaba otra cosa.»  — reseña real del corpus, 3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798064"/>
            <a:ext cx="345429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9443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1 · EXTRACCIÓN DE ATRIBUTOS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218688"/>
            <a:ext cx="3088538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Cada fragmento se asigna a uno de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ocho atributos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mediante un léxico multilingüe construido para el dominio: vino y cata, personal y trato, visita y experiencia, instalaciones, precio y valor, organización y reserva, gastronomía, entorno y viñedo. Esta reseña habla de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cuatro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2798064"/>
            <a:ext cx="345429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8698" y="2798064"/>
            <a:ext cx="54864" cy="233172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9866" y="29443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2 · SENTIMIENTO POR ATRIBUTO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9866" y="3218688"/>
            <a:ext cx="3088538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Un modelo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BERT multilingüe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puntúa cada frase de 1 a 5,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independientemente de las estrellas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del autor. Esa independencia evita la circularidad en la regresión posterior. Resultado: vino 5, personal 5, organización 2, precio 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1596" y="2798064"/>
            <a:ext cx="345429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2764" y="29443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3 · IDIOMA Y PROCEDENCIA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2764" y="3218688"/>
            <a:ext cx="3088538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Detección del idioma (mínimo 20 caracteres; si no, «sin determinar») como aproximación a la procedencia del visitante. Permite segmentar hispanohablante / internacional y comparar valoraciones.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532120"/>
            <a:ext cx="10820095" cy="1905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6418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B19"/>
                </a:solidFill>
                <a:latin typeface="Georgia"/>
              </a:rPr>
              <a:t>Resultado: 17.246 menciones anotadas, con atributo, sentimiento e idioma. Base de todo lo que sigue.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MÓDULO DE PLN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Control de calidad del análisis de 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Cómo se sabe que el léxico y el modelo aciertan: decisiones de diseño, errores encontrados y umbrales de fiabilidad.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518144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112264"/>
            <a:ext cx="54864" cy="1874519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25856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DOS ERRORES DE POLISEMIA DETECTADOS Y CORREGIDOS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532888"/>
            <a:ext cx="4815687" cy="13167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«tiempo»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(clima, duración, uso genérico) contaminaba «organización y reserva»: 118 reseñas ajenas, incluidas de logística de camiones. Sustituido por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«tiempo de espera»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«cola»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: el desempeño del atributo pasó de 3,66 a 4,00.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«cara»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(rostro, «de cara al público») en «precio»: 11 falsos positivos de 29. Sustituido por locuciones; impacto medido: +0,014,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ningún ranking cambió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2112264"/>
            <a:ext cx="518144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225856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UMBRALES DE FIABILIDAD, CON SU PORQUÉ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2532888"/>
            <a:ext cx="4815687" cy="13167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8 menciones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mínimas para publicar la nota de un atributo: con 6, una bodega daba 5,00 y una sola reseña de 3 estrellas la dejaría en 4,71.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20 caracteres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mínimos para asignar idioma; por debajo, «sin determinar».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10 observaciones por variable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en la regresión para no sobreajustar.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15384"/>
            <a:ext cx="5181447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36168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ROBUSTEZ DEL MODELO DE IMPORTANCIA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636008"/>
            <a:ext cx="4815687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R² = 0,55 con F significativa y 465 observaciones por variable. El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orden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 importancia de los atributos se mantiene con dos estimadores distintos —regresión lineal y regresión ordinal— con una correlación de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0,79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entre ambos.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4215384"/>
            <a:ext cx="5181447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5615" y="436168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COBERTURA LINGÜÍSTICA DECLARADA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5615" y="4636008"/>
            <a:ext cx="4815687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Léxico de atributos en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español, inglés, alemán, francés e italiano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 Modelo de sentimiento entrenado sobre reseñas en esos cinco idiomas y neerlandés.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Pendiente: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ampliar el léxico a portugués y neerlandés. El sentimiento se calcula del texto, nunca de las estrellas, para evitar circularidad.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Cada corrección se aplica al léxico, se recalcula todo el pipeline y se mide su impacto antes de aceptarla. Los umbrales están publicados en la guía de la plataforma.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MÓDULO ANALÍTICO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Medir la importancia: el análisis PRCA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El desempeño se lee; la importancia hay que estimarla. Tres aproximaciones y la elegida.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34542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IMPORTANCIA DECLARADA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32888"/>
            <a:ext cx="308853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Se pregunta al cliente.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Limitación: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lo que decimos valorar y lo que determina nuestra satisfacción no coinciden.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112264"/>
            <a:ext cx="34542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9866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IMPORTANCIA DERIVADA POR FRECUENCIA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866" y="2532888"/>
            <a:ext cx="308853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Se cuentan menciones.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Limitación: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confunde frecuencia con relevancia. De lo que nunca falla se habla mucho.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1596" y="2112264"/>
            <a:ext cx="34542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1596" y="2112264"/>
            <a:ext cx="54864" cy="178308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2764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IMPORTANCIA POR IMPACTO (PRCA)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2764" y="2532888"/>
            <a:ext cx="308853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Regresión de la satisfacción global sobre cada atributo, que entra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dos veces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: como penalización (cuando va mal) y como recompensa (cuando va bien). Brandt (1987).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" y="4078224"/>
          <a:ext cx="65836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ectangle 23"/>
          <p:cNvSpPr/>
          <p:nvPr/>
        </p:nvSpPr>
        <p:spPr>
          <a:xfrm>
            <a:off x="7543800" y="4078224"/>
            <a:ext cx="3962095" cy="201168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4197095"/>
            <a:ext cx="35963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LECTURA</a:t>
            </a:r>
          </a:p>
          <a:p>
            <a:pPr>
              <a:spcAft>
                <a:spcPts val="600"/>
              </a:spcAft>
            </a:pPr>
            <a:r>
              <a:rPr sz="1150" i="0" b="0">
                <a:solidFill>
                  <a:srgbClr val="57544E"/>
                </a:solidFill>
                <a:latin typeface="Calibri"/>
              </a:rPr>
              <a:t>«Vino y cata» es el segundo atributo </a:t>
            </a:r>
            <a:r>
              <a:rPr sz="1150" i="0" b="1">
                <a:solidFill>
                  <a:srgbClr val="1C1B19"/>
                </a:solidFill>
                <a:latin typeface="Calibri"/>
              </a:rPr>
              <a:t>más mencionado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(4.232 menciones) y solo el sexto en importancia: </a:t>
            </a:r>
            <a:r>
              <a:rPr sz="1150" i="0" b="1">
                <a:solidFill>
                  <a:srgbClr val="1C1B19"/>
                </a:solidFill>
                <a:latin typeface="Calibri"/>
              </a:rPr>
              <a:t>no discrimina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porque casi siempre está bien.</a:t>
            </a:r>
          </a:p>
          <a:p>
            <a:pPr>
              <a:spcAft>
                <a:spcPts val="600"/>
              </a:spcAft>
            </a:pPr>
            <a:r>
              <a:rPr sz="1150" i="0" b="0">
                <a:solidFill>
                  <a:srgbClr val="57544E"/>
                </a:solidFill>
                <a:latin typeface="Calibri"/>
              </a:rPr>
              <a:t>«Organización y reserva» aparece en </a:t>
            </a:r>
            <a:r>
              <a:rPr sz="1150" i="0" b="1">
                <a:solidFill>
                  <a:srgbClr val="1C1B19"/>
                </a:solidFill>
                <a:latin typeface="Calibri"/>
              </a:rPr>
              <a:t>331 menciones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 (2 %) y pesa el </a:t>
            </a:r>
            <a:r>
              <a:rPr sz="1150" i="0" b="1">
                <a:solidFill>
                  <a:srgbClr val="1C1B19"/>
                </a:solidFill>
                <a:latin typeface="Calibri"/>
              </a:rPr>
              <a:t>14,8 %</a:t>
            </a:r>
            <a:r>
              <a:rPr sz="1150" i="0" b="0">
                <a:solidFill>
                  <a:srgbClr val="57544E"/>
                </a:solidFill>
                <a:latin typeface="Calibri"/>
              </a:rPr>
              <a:t>: poca gente, mucho efecto.</a:t>
            </a:r>
          </a:p>
          <a:p>
            <a:pPr>
              <a:spcAft>
                <a:spcPts val="0"/>
              </a:spcAft>
            </a:pPr>
            <a:r>
              <a:rPr sz="1150" i="0" b="0">
                <a:solidFill>
                  <a:srgbClr val="57544E"/>
                </a:solidFill>
                <a:latin typeface="Calibri"/>
              </a:rPr>
              <a:t>Con la importancia por frecuencia, precio y organización salían como «baja prioridad». </a:t>
            </a:r>
            <a:r>
              <a:rPr sz="1150" i="0" b="1">
                <a:solidFill>
                  <a:srgbClr val="1C1B19"/>
                </a:solidFill>
                <a:latin typeface="Calibri"/>
              </a:rPr>
              <a:t>El consejo estaba invertido.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Modelo del Marco: R² = 0,55; F significativa; 465 observaciones por variable; mínimo de 8 menciones por atributo. Penalización y recompensa son asimétricas.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MÓDULO ANALÍTICO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El IPA del Marco de Jerez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Importancia por impacto (eje X) frente a sentimiento por atributo (eje Y). Umbrales: las medias (12,5 % y 4,05).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2112264"/>
            <a:ext cx="67665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617720" y="2112264"/>
            <a:ext cx="0" cy="3566160"/>
          </a:xfrm>
          <a:prstGeom prst="line">
            <a:avLst/>
          </a:prstGeom>
          <a:ln w="15875">
            <a:solidFill>
              <a:srgbClr val="D3CC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" y="3470801"/>
            <a:ext cx="6766560" cy="0"/>
          </a:xfrm>
          <a:prstGeom prst="line">
            <a:avLst/>
          </a:prstGeom>
          <a:ln w="15875">
            <a:solidFill>
              <a:srgbClr val="D3CC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44168" y="218541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POSIBLE EXCESO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8541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B877E"/>
                </a:solidFill>
                <a:latin typeface="Calibri"/>
              </a:rPr>
              <a:t>SIGA CON EL BUEN TRABAJO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538581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BAJA 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538581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7A3B1E"/>
                </a:solidFill>
                <a:latin typeface="Calibri"/>
              </a:rPr>
              <a:t>CONCÉNTRESE AQUÍ</a:t>
            </a:r>
          </a:p>
        </p:txBody>
      </p:sp>
      <p:sp>
        <p:nvSpPr>
          <p:cNvPr id="20" name="Oval 19"/>
          <p:cNvSpPr/>
          <p:nvPr/>
        </p:nvSpPr>
        <p:spPr>
          <a:xfrm>
            <a:off x="7454766" y="2706623"/>
            <a:ext cx="237744" cy="237744"/>
          </a:xfrm>
          <a:prstGeom prst="ellipse">
            <a:avLst/>
          </a:prstGeom>
          <a:solidFill>
            <a:srgbClr val="C9C5B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88223" y="2715767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7544E"/>
                </a:solidFill>
                <a:latin typeface="Calibri"/>
              </a:rPr>
              <a:t>Visita y experiencia</a:t>
            </a:r>
          </a:p>
        </p:txBody>
      </p:sp>
      <p:sp>
        <p:nvSpPr>
          <p:cNvPr id="22" name="Oval 21"/>
          <p:cNvSpPr/>
          <p:nvPr/>
        </p:nvSpPr>
        <p:spPr>
          <a:xfrm>
            <a:off x="4961823" y="2706623"/>
            <a:ext cx="237744" cy="237744"/>
          </a:xfrm>
          <a:prstGeom prst="ellipse">
            <a:avLst/>
          </a:prstGeom>
          <a:solidFill>
            <a:srgbClr val="C9C5B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4431" y="2715767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Instalaciones</a:t>
            </a:r>
          </a:p>
        </p:txBody>
      </p:sp>
      <p:sp>
        <p:nvSpPr>
          <p:cNvPr id="24" name="Oval 23"/>
          <p:cNvSpPr/>
          <p:nvPr/>
        </p:nvSpPr>
        <p:spPr>
          <a:xfrm>
            <a:off x="4854982" y="2400953"/>
            <a:ext cx="237744" cy="237744"/>
          </a:xfrm>
          <a:prstGeom prst="ellipse">
            <a:avLst/>
          </a:prstGeom>
          <a:solidFill>
            <a:srgbClr val="C9C5B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439" y="2410097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7544E"/>
                </a:solidFill>
                <a:latin typeface="Calibri"/>
              </a:rPr>
              <a:t>Personal y trato</a:t>
            </a:r>
          </a:p>
        </p:txBody>
      </p:sp>
      <p:sp>
        <p:nvSpPr>
          <p:cNvPr id="26" name="Oval 25"/>
          <p:cNvSpPr/>
          <p:nvPr/>
        </p:nvSpPr>
        <p:spPr>
          <a:xfrm>
            <a:off x="3501670" y="3080221"/>
            <a:ext cx="237744" cy="237744"/>
          </a:xfrm>
          <a:prstGeom prst="ellipse">
            <a:avLst/>
          </a:prstGeom>
          <a:solidFill>
            <a:srgbClr val="C9C5B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278" y="3089365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Vino y cata</a:t>
            </a:r>
          </a:p>
        </p:txBody>
      </p:sp>
      <p:sp>
        <p:nvSpPr>
          <p:cNvPr id="28" name="Oval 27"/>
          <p:cNvSpPr/>
          <p:nvPr/>
        </p:nvSpPr>
        <p:spPr>
          <a:xfrm>
            <a:off x="1756610" y="2536806"/>
            <a:ext cx="237744" cy="237744"/>
          </a:xfrm>
          <a:prstGeom prst="ellipse">
            <a:avLst/>
          </a:prstGeom>
          <a:solidFill>
            <a:srgbClr val="C9C5B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49218" y="254595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Entorno y viñedo</a:t>
            </a:r>
          </a:p>
        </p:txBody>
      </p:sp>
      <p:sp>
        <p:nvSpPr>
          <p:cNvPr id="30" name="Oval 29"/>
          <p:cNvSpPr/>
          <p:nvPr/>
        </p:nvSpPr>
        <p:spPr>
          <a:xfrm>
            <a:off x="2789401" y="3929307"/>
            <a:ext cx="237744" cy="237744"/>
          </a:xfrm>
          <a:prstGeom prst="ellipse">
            <a:avLst/>
          </a:prstGeom>
          <a:solidFill>
            <a:srgbClr val="C9C5B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82009" y="3938451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7544E"/>
                </a:solidFill>
                <a:latin typeface="Calibri"/>
              </a:rPr>
              <a:t>Gastronomía</a:t>
            </a:r>
          </a:p>
        </p:txBody>
      </p:sp>
      <p:sp>
        <p:nvSpPr>
          <p:cNvPr id="32" name="Oval 31"/>
          <p:cNvSpPr/>
          <p:nvPr/>
        </p:nvSpPr>
        <p:spPr>
          <a:xfrm>
            <a:off x="5353571" y="4268941"/>
            <a:ext cx="237744" cy="237744"/>
          </a:xfrm>
          <a:prstGeom prst="ellipse">
            <a:avLst/>
          </a:prstGeom>
          <a:solidFill>
            <a:srgbClr val="EB683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46179" y="4278085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B19"/>
                </a:solidFill>
                <a:latin typeface="Calibri"/>
              </a:rPr>
              <a:t>Precio y valor</a:t>
            </a:r>
          </a:p>
        </p:txBody>
      </p:sp>
      <p:sp>
        <p:nvSpPr>
          <p:cNvPr id="34" name="Oval 33"/>
          <p:cNvSpPr/>
          <p:nvPr/>
        </p:nvSpPr>
        <p:spPr>
          <a:xfrm>
            <a:off x="5317957" y="5151990"/>
            <a:ext cx="237744" cy="237744"/>
          </a:xfrm>
          <a:prstGeom prst="ellipse">
            <a:avLst/>
          </a:prstGeom>
          <a:solidFill>
            <a:srgbClr val="EB683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0565" y="5161134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1B19"/>
                </a:solidFill>
                <a:latin typeface="Calibri"/>
              </a:rPr>
              <a:t>Organización y reserva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724144"/>
            <a:ext cx="6766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B877E"/>
                </a:solidFill>
                <a:latin typeface="Calibri"/>
              </a:rPr>
              <a:t>Importancia (impacto en la satisfacción)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112264"/>
            <a:ext cx="313913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LECTURA</a:t>
            </a:r>
          </a:p>
          <a:p>
            <a:pPr>
              <a:spcAft>
                <a:spcPts val="8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Concéntrese aquí: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precio y valor (3,78) y organización y reserva (3,52). Los dos peor valorados son también de los que más pesan.</a:t>
            </a:r>
          </a:p>
          <a:p>
            <a:pPr>
              <a:spcAft>
                <a:spcPts val="8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Siga con el buen trabajo: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visita, instalaciones y personal.</a:t>
            </a:r>
          </a:p>
          <a:p>
            <a:pPr>
              <a:spcAft>
                <a:spcPts val="8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Posible exceso: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vino y cata, y entorno. Alta valoración, bajo impacto diferencial.</a:t>
            </a:r>
          </a:p>
          <a:p>
            <a:pPr>
              <a:spcAft>
                <a:spcPts val="0"/>
              </a:spcAft>
            </a:pPr>
            <a:r>
              <a:rPr sz="1150" i="0" b="0">
                <a:solidFill>
                  <a:srgbClr val="8B877E"/>
                </a:solidFill>
                <a:latin typeface="Calibri"/>
              </a:rPr>
              <a:t>Coherente con Meneses et al. (2023): la insatisfacción nace de ineficiencias operativas, no del producto.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MÓDULO ANALÍTICO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Extensiones competitiva y dinámica: IPCA y DIPA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5181447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563624"/>
            <a:ext cx="54864" cy="169164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70992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IPCA · IMPLEMENTADO, POR BODEGA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1984248"/>
            <a:ext cx="4815687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Compara el sentimiento de cada bodega con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media del resto del Marco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 La brecha se declara «en línea» si cae dentro de una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banda de indiferencia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(0,07), calculada como el percentil 25 de la distribución real de brechas: sin ella, diferencias de ±0,004 salían etiquetadas como «actuar» o «fortaleza».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1563624"/>
            <a:ext cx="5181447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4447" y="1563624"/>
            <a:ext cx="54864" cy="169164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170992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DIPA · IMPLEMENTADO, DESTINO Y BODEGA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1984248"/>
            <a:ext cx="4815687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Sentimiento por atributo y periodo. Compara el primer trienio con datos frente al último. Solo se afirma un cambio si supera la banda de indiferencia.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DIPCA: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pendiente de implementar.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85800" y="3438143"/>
          <a:ext cx="73152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ectangle 20"/>
          <p:cNvSpPr/>
          <p:nvPr/>
        </p:nvSpPr>
        <p:spPr>
          <a:xfrm>
            <a:off x="8275320" y="3438143"/>
            <a:ext cx="3230575" cy="237744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575304"/>
            <a:ext cx="286481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RESULTADO</a:t>
            </a:r>
          </a:p>
          <a:p>
            <a:pPr>
              <a:spcAft>
                <a:spcPts val="600"/>
              </a:spcAft>
            </a:pPr>
            <a:r>
              <a:rPr sz="1200" i="0" b="0">
                <a:solidFill>
                  <a:srgbClr val="57544E"/>
                </a:solidFill>
                <a:latin typeface="Calibri"/>
              </a:rPr>
              <a:t>Siete atributos se mueven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dentro del ruido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. Solo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precio y valor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 supera la banda: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3,87 → 3,70 (−0,18)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i="0" b="0">
                <a:solidFill>
                  <a:srgbClr val="57544E"/>
                </a:solidFill>
                <a:latin typeface="Calibri"/>
              </a:rPr>
              <a:t>Organización y reserva no empeora (3,47 → 3,54), pero sigue siendo el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peor valorado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.</a:t>
            </a:r>
          </a:p>
          <a:p>
            <a:pPr>
              <a:spcAft>
                <a:spcPts val="0"/>
              </a:spcAft>
            </a:pPr>
            <a:r>
              <a:rPr sz="1100" i="0" b="0">
                <a:solidFill>
                  <a:srgbClr val="8B877E"/>
                </a:solidFill>
                <a:latin typeface="Calibri"/>
              </a:rPr>
              <a:t>Contexto económico: 40,4 € de ingreso por visitante, por encima de la media de las rutas (37,0 €) y lejos del líder (70,0 €).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MARCO ANALÍTICO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La teoría de los tres factores de la satisfacción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El puente conceptual entre el PRCA y el modelo de Kano: la satisfacción no responde de forma lineal ni simétrica.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345429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FACTORES BÁSICOS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32888"/>
            <a:ext cx="3088538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Requisitos mínimos. Su ausencia genera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insatisfacción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; su presencia no genera satisfacción. Asimetría negativa.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112264"/>
            <a:ext cx="345429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9866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FACTORES DE DESEMPEÑO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866" y="2532888"/>
            <a:ext cx="3088538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Relación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lineal y simétrica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: cuanto mejor, más satisfacción; cuanto peor, más insatisfacción.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1596" y="2112264"/>
            <a:ext cx="345429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2764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FACTORES DE ENTUSIASMO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2764" y="2532888"/>
            <a:ext cx="3088538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Su presencia genera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satisfacción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; su ausencia no genera insatisfacción. Asimetría positiva.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41064"/>
            <a:ext cx="5181447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DE DÓNDE VIENE</a:t>
            </a:r>
          </a:p>
          <a:p>
            <a:pPr>
              <a:spcAft>
                <a:spcPts val="60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Kano et al. (1984) formulan la clasificación; Matzler y Sauerwein (2002) la sistematizan como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teoría de los tres factores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y muestran que puede estimarse a partir de datos de satisfacción reales, sin cuestionario específico.</a:t>
            </a:r>
          </a:p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El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PRCA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 Brandt (1987) es la operacionalización habitual: cada atributo entra en la regresión con dos variables, una para el caso «va mal» (penalización) y otra para «va bien» (recompensa).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diferencia entre los dos coeficientes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revela la asimetría.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3941064"/>
            <a:ext cx="5181447" cy="219456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4078224"/>
            <a:ext cx="472424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POR QUÉ IMPORTA PARA EL IPA</a:t>
            </a:r>
          </a:p>
          <a:p>
            <a:pPr>
              <a:spcAft>
                <a:spcPts val="60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El IPA clásico supone que importancia y desempeño se relacionan de forma lineal. Si un atributo es básico, mejorarlo por encima del mínimo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no sube la satisfacción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: invertir ahí es «posible exceso». Si es de entusiasmo, un pequeño avance puede tener un efecto desproporcionado.</a:t>
            </a:r>
          </a:p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En ENOLYTICS, el PRCA aporta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importancia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(magnitud de los coeficientes) y el índice λ aporta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asimetría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(perfil de Kano). Son dos lecturas de la misma regresión.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Kano, Seraku, Takahashi y Tsuji (1984) · Brandt (1987) · Matzler y Sauerwein (2002) · Mikulić y Prebežac (2008), análisis de asimetría del impacto.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MÓDULO ANALÍTICO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El modelo de Kano y el efecto techo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345429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BÁSICO / HIGIÉNICO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984248"/>
            <a:ext cx="308853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Si falla, penaliza mucho; si funciona, apenas recompensa. Se da por supuesto.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1563624"/>
            <a:ext cx="345429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9866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DE DESEMPEÑO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866" y="1984248"/>
            <a:ext cx="308853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Satisfacción proporcional: cuanto más, mejor.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1596" y="1563624"/>
            <a:ext cx="345429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2764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DE ENTUSIASMO / DELEITADOR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2764" y="1984248"/>
            <a:ext cx="308853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Si falta, no se echa de menos; si aparece, recompensa mucho.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209544"/>
            <a:ext cx="5181447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250" i="0" b="1">
                <a:solidFill>
                  <a:srgbClr val="1C1B19"/>
                </a:solidFill>
                <a:latin typeface="Calibri"/>
              </a:rPr>
              <a:t>Cómo se mide: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con los coeficientes del PRCA se calcula un índice λ que compara la magnitud de la recompensa con la de la penalización. Umbral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±0,20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(Pratt et al., 2020; aplicado en Han et al., 2026, IJCHM).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250" i="0" b="1">
                <a:solidFill>
                  <a:srgbClr val="1C1B19"/>
                </a:solidFill>
                <a:latin typeface="Calibri"/>
              </a:rPr>
              <a:t>Resultado en el Marco: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los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ocho atributos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se clasifican como «básico». Ninguno como deleitador.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250" i="0" b="1">
                <a:solidFill>
                  <a:srgbClr val="1C1B19"/>
                </a:solidFill>
                <a:latin typeface="Calibri"/>
              </a:rPr>
              <a:t>Diagnóstico: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no es un hallazgo, es aritmética. Con el 75,9 % de reseñas en el máximo, casi no existe «recompensa» observable; todo lo que queda es penalización. Es el efecto techo actuando sobre el método.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447" y="3209544"/>
            <a:ext cx="5181447" cy="265176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3346704"/>
            <a:ext cx="4724247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DECISIÓN METODOLÓGICA</a:t>
            </a:r>
          </a:p>
          <a:p>
            <a:pPr>
              <a:spcAft>
                <a:spcPts val="800"/>
              </a:spcAft>
            </a:pPr>
            <a:r>
              <a:rPr sz="1200" i="0" b="0">
                <a:solidFill>
                  <a:srgbClr val="57544E"/>
                </a:solidFill>
                <a:latin typeface="Calibri"/>
              </a:rPr>
              <a:t>Publicar «ocho básicos» habría sido técnicamente correcto e inútil. Se renuncia a la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clasificación absoluta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 y se conserva el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orden relativo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: qué atributos se comportan de forma más higiénica y cuáles más deleitadora dentro de este corpus. El cuadro de mando lo muestra como un perfil, no como una etiqueta.</a:t>
            </a:r>
          </a:p>
          <a:p>
            <a:pPr>
              <a:spcAft>
                <a:spcPts val="0"/>
              </a:spcAft>
            </a:pPr>
            <a:r>
              <a:rPr sz="1150" i="0" b="0">
                <a:solidFill>
                  <a:srgbClr val="57544E"/>
                </a:solidFill>
                <a:latin typeface="Calibri"/>
              </a:rPr>
              <a:t>Para resolverlo haría falta una fuente con más variación: plataformas más críticas o una encuesta con escala forzada. Está en las líneas futuras.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MÓDULO ANALÍTICO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Identificación de competidores directos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Una bodega no compite con las otras 41: compite con tres o cuatro. Método de Zhou et al. (2026), IJHM.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1 · RASGOS POR BODEGA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3288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Eje de mercado: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perfil de sentimiento por atributo, nota, ubicación (distancia haversine), % de visitante internacional.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Eje de recursos: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servicios ofrecidos, certificación FEV, madurez digital, tamaño.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11226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9866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2 · AGRUPACIÓN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866" y="253288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K-prototypes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(variables numéricas y categóricas a la vez); número de grupos elegido por silueta (k = 3). Mismo grupo = competidores potenciales.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1596" y="211226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1596" y="2112264"/>
            <a:ext cx="54864" cy="201168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2764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3 · CATEGORIZACIÓN DE KAMENSKY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2764" y="253288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Distancia de Gower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en los dos ejes; umbrales por mediana. Cuatro tipos: núcleo (mismo cliente y recursos), sustituto, marginal y potencial.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52544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37 de 42 bodegas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obtienen análisis. A las 5 restantes, sin perfil suficiente, la plataforma responde que no hay muestra: se prefiere «no lo sé» a un competidor al azar.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300" i="0" b="0">
                <a:solidFill>
                  <a:srgbClr val="57544E"/>
                </a:solidFill>
                <a:latin typeface="Calibri"/>
              </a:rPr>
              <a:t>Validación de cara: Barbadillo → Osborne, Lustau, González Byass; Tradición → bodegas de perfil premium. Coherente con el conocimiento del sector.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300" i="0" b="0">
                <a:solidFill>
                  <a:srgbClr val="57544E"/>
                </a:solidFill>
                <a:latin typeface="Calibri"/>
              </a:rPr>
              <a:t>El precio de las experiencias </a:t>
            </a:r>
            <a:r>
              <a:rPr sz="1300" i="0" b="1">
                <a:solidFill>
                  <a:srgbClr val="1C1B19"/>
                </a:solidFill>
                <a:latin typeface="Calibri"/>
              </a:rPr>
              <a:t>aún no entra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en el eje de recursos: se está recopilando y verificando con las bodegas.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MÓDULOS ANALÍTICOS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Co-ocurrencias y motor de recomendaciones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5181447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70992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CO-OCURRENCIAS DE ATRIBUTOS (MÉTODO CO-WORD)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984248"/>
            <a:ext cx="481568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Tomado de la bibliometría: qué atributos se mencionan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juntos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en una misma reseña. Recuento bruto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equivalencia de Callon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(normalizada, que corrige que los atributos frecuentes se asocien con todo). Grafo de red con capas positiva y negativa. Revela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estructura de la experiencia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: p. ej., instalaciones y visita van siempre unidas; organización y precio aparecen juntas en las críticas.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447" y="1563624"/>
            <a:ext cx="5181447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4447" y="1563624"/>
            <a:ext cx="54864" cy="214884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5615" y="170992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MOTOR DE RECOMENDACIONES ACCIONABLES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5615" y="1984248"/>
            <a:ext cx="4815687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El diferencial comprometido en la memoria. Reglas que se disparan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solo si el dato las sostiene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; cada una declara diagnóstico, acción y fuente.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14 recomendaciones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para el destino (Clientes 5, Mercado 3, Tecnológica 3, Negocios, Económica y Sostenibilidad 1), y recomendaciones específicas por bodega. Prioridad alta / media / baja.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41064"/>
            <a:ext cx="10820095" cy="169164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78224"/>
            <a:ext cx="10271455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UMBRALES DECLARADOS EN LA GUÍA DE LA PLATAFORMA, EN DOS BLOQUES</a:t>
            </a:r>
          </a:p>
          <a:p>
            <a:pPr>
              <a:spcAft>
                <a:spcPts val="500"/>
              </a:spcAft>
            </a:pPr>
            <a:r>
              <a:rPr sz="1200" i="0" b="1">
                <a:solidFill>
                  <a:srgbClr val="1C1B19"/>
                </a:solidFill>
                <a:latin typeface="Calibri"/>
              </a:rPr>
              <a:t>Con base metodológica: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 8 menciones mínimas por atributo · banda de indiferencia 0,10 ★ (IPCA en estrellas) y 0,07 (en sentimiento, percentil 25 de 94 pares) · λ de Kano ±0,20 · 10 observaciones por variable en la regresión · 20 caracteres para detectar idioma.</a:t>
            </a:r>
          </a:p>
          <a:p>
            <a:pPr>
              <a:spcAft>
                <a:spcPts val="0"/>
              </a:spcAft>
            </a:pPr>
            <a:r>
              <a:rPr sz="1200" i="0" b="1">
                <a:solidFill>
                  <a:srgbClr val="1C1B19"/>
                </a:solidFill>
                <a:latin typeface="Calibri"/>
              </a:rPr>
              <a:t>Criterio del equipo: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 responder al 0 % con ≥ 5 críticas, o &lt; 15 % con ≥ 10 · 3 bodegas mudas con ≥ 50 críticas · 10 € de brecha de ingreso por visitante · 20 % de webs sin zoom · 80 % de reserva online · 75 % accesibles y 60 % en coche.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Un motor con umbrales declarados es defendible y auditable; uno cuyos umbrales no se conocen, no.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Indicadores de destino y principales hallazgos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345429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ECONÓMICA · ACEVIN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98424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C1B19"/>
                </a:solidFill>
                <a:latin typeface="Georgia"/>
              </a:rPr>
              <a:t>17,2 M€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51176"/>
            <a:ext cx="308853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Ingresos del enoturismo.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40,4 €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por visitante; media de las rutas 37,0 €; líder Rioja Alta 70,0 €.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1563624"/>
            <a:ext cx="345429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9866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MERCADO · GOOGLE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9866" y="198424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C1B19"/>
                </a:solidFill>
                <a:latin typeface="Georgia"/>
              </a:rPr>
              <a:t>2.º de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866" y="2551176"/>
            <a:ext cx="308853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Interés de búsqueda: Jerez 37 frente a Rioja 56 (índice medio). Tendencia a la baja.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1596" y="1563624"/>
            <a:ext cx="345429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2764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CLIENTES · RESEÑAS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2764" y="198424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C1B19"/>
                </a:solidFill>
                <a:latin typeface="Georgia"/>
              </a:rPr>
              <a:t>590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2764" y="2551176"/>
            <a:ext cx="308853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Críticas de 1-2 ★ sin respuesta del propietario. 11 de 33 bodegas no responden nunca.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118104"/>
            <a:ext cx="345429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26440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TECNOLÓGICA · AUDITORÍA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53872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C1B19"/>
                </a:solidFill>
                <a:latin typeface="Georgia"/>
              </a:rPr>
              <a:t>0 de 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105656"/>
            <a:ext cx="308853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Bodegas que mencionan apoyo sensorial (audioguías, braille). 12 de 38 bloquean el zoom. Índice digital 6,4/8.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8698" y="3118104"/>
            <a:ext cx="345429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9866" y="326440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SOSTENIBILIDAD · OSM + ACEVIN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866" y="353872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C1B19"/>
                </a:solidFill>
                <a:latin typeface="Georgia"/>
              </a:rPr>
              <a:t>88 %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866" y="4105656"/>
            <a:ext cx="308853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Bodegas accesibles en transporte público (36 de 41); el 76 % de los enoturistas llega en coche.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51596" y="3118104"/>
            <a:ext cx="345429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51596" y="3118104"/>
            <a:ext cx="54864" cy="137160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2764" y="326440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MERCADO · DATAESTUR (PREDICTIVO)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2764" y="3538728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1B19"/>
                </a:solidFill>
                <a:latin typeface="Georgia"/>
              </a:rPr>
              <a:t>3.253.175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2764" y="4105656"/>
            <a:ext cx="308853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Búsquedas de vuelo a Jerez desde países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sin un solo asiento directo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(Italia, EE. UU., Francia, P. Bajos).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718304"/>
            <a:ext cx="10820095" cy="1905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828032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B19"/>
                </a:solidFill>
                <a:latin typeface="Georgia"/>
              </a:rPr>
              <a:t>Ninguno de estos indicadores está en las reseñas: salen de cruzar fuentes públicas que nadie había puesto juntas.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Un hallazgo de destino: los cruceros de Cádiz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696.151 cruceristas en 2024 frente a 425.652 visitantes a todas las bodegas del Marco. Y su calendario es complementario.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32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112264"/>
          <a:ext cx="7498079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8458200" y="2112264"/>
            <a:ext cx="3047695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2112264"/>
            <a:ext cx="54864" cy="160020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8" y="2258568"/>
            <a:ext cx="2681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NOVIEMBRE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532888"/>
            <a:ext cx="26819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1B19"/>
                </a:solidFill>
                <a:latin typeface="Georgia"/>
              </a:rPr>
              <a:t>85 vs 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3099816"/>
            <a:ext cx="268193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Cruceros al 85 % de su máximo; enoturismo al 54 %.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895344"/>
            <a:ext cx="30476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i="0" b="0">
                <a:solidFill>
                  <a:srgbClr val="57544E"/>
                </a:solidFill>
                <a:latin typeface="Calibri"/>
              </a:rPr>
              <a:t>Cádiz es el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6.º puerto de España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 en cruceros. ACEVIN estima que ~30 % de los enoturistas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no pernocta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: el perfil de quien baja de un barco por unas horas.</a:t>
            </a:r>
          </a:p>
          <a:p>
            <a:pPr>
              <a:spcAft>
                <a:spcPts val="0"/>
              </a:spcAft>
            </a:pPr>
            <a:r>
              <a:rPr sz="1200" i="0" b="1">
                <a:solidFill>
                  <a:srgbClr val="1C1B19"/>
                </a:solidFill>
                <a:latin typeface="Calibri"/>
              </a:rPr>
              <a:t>Implicación: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 producto de medio día empaquetado con navieras y receptivos. Responde a la prioridad FEDER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P4A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 (desestacionalizar).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Cruceros: Dataestur / Puertos del Estado (oficial). Afluencia enoturística: estimación propia por volumen mensual de reseñas; útil para la forma, no para cifras.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FUNCIONALIDADES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Funcionalidades del cuadro de mando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563624"/>
            <a:ext cx="54864" cy="169164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INFORME PDF POR BODEGA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1984248"/>
            <a:ext cx="308853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Una página, generada en el servidor: reputación, competidores directos, fortalezas y debilidades, presencia digital y sostenibilidad, qué hacer. Pensado para entregar a la bodega.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1563624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8698" y="1563624"/>
            <a:ext cx="54864" cy="169164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9866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SIMULADOR «¿Y SI…?»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866" y="1984248"/>
            <a:ext cx="308853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Cuatro palancas —monetización, captación de cruceristas, respuesta a críticas, calidad percibida— sobre cifras reales, con la fórmula y el supuesto a la vista.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Proyecta un escenario; no predice.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1596" y="1563624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2764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GUÍA Y METODOLOGÍA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2764" y="1984248"/>
            <a:ext cx="308853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Qué es cada apartado, de dónde sale cada dato, qué significa cada análisis y qué umbral aplica. Descargable en PDF como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anexo metodológico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del proyecto.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438143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5844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FICHA DE REPUTACIÓN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858767"/>
            <a:ext cx="308853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Al estilo de las grandes plataformas, más un indicador que ninguna muestra: la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tasa de respuesta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del propietario a las reseñas y a las críticas.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8698" y="3438143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9866" y="35844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MAPA DE COMPETIDORES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9866" y="3858767"/>
            <a:ext cx="308853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Terreno competitivo de Kamensky por bodega: distancia de mercado frente a distancia de recursos, con los cuatro tipos de rival.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1596" y="3438143"/>
            <a:ext cx="345429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2764" y="35844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CÓDIGO DE ORIGEN DEL DATO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2764" y="3858767"/>
            <a:ext cx="308853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Oficial / observado / estimación en todas las pantallas. Textos compuestos de datos agregados,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sin IA generativa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, para que el mismo dato dé siempre el mismo texto.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Verificación: pruebas automatizadas de las cinco vistas y barridos con navegador real tras cada cambio; revisión de uso por la IP.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MEJORA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C1B19"/>
                </a:solidFill>
                <a:latin typeface="Georgia"/>
              </a:rPr>
              <a:t>Validación con usuarios: la revisión de la investigadora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La IP usó el cuadro de mando como usuaria y devolvió un documento con diez observaciones numeradas.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12264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754880"/>
                <a:gridCol w="822960"/>
                <a:gridCol w="482803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Observación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Qué se hizo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La vista de bodega fallaba si el filtro de localidad quedaba vacío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Vacío = todas; el filtro pasa a vivir dentro de la vista que filtra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Una bodega con dos municipios se contaba como localidad nueva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El campo admite varios valores; 7 localidades reales en vez de 8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Una tarjeta colgaba la comparación de la cifra equivocada y se leía al revés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La comparación cuelga de la tarjeta que se juzga; se encontró otra igual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Tres gráficos mostraban «undefined» en la leyenda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La causa real era un título vacío; un arreglo resolvió 29 casos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Los umbrales del motor de recomendaciones no estaban documentados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Nueva sección en la guía, separando base metodológica y criterio del equipo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4626864"/>
            <a:ext cx="518144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600"/>
              </a:spcAft>
              <a:buChar char="•"/>
            </a:pPr>
            <a:r>
              <a:rPr sz="1250" i="0" b="1">
                <a:solidFill>
                  <a:srgbClr val="1C1B19"/>
                </a:solidFill>
                <a:latin typeface="Calibri"/>
              </a:rPr>
              <a:t>Diez observaciones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: dos errores y ocho de lectura en pantalla. Las diez aplicadas y verificadas con pruebas automáticas y navegador real; el repaso que pedía la IP encontró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dos problemas más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del mismo tipo.</a:t>
            </a:r>
          </a:p>
          <a:p>
            <a:pPr marL="201168" indent="-201168">
              <a:spcAft>
                <a:spcPts val="600"/>
              </a:spcAft>
              <a:buChar char="•"/>
            </a:pPr>
            <a:r>
              <a:rPr sz="1250" i="0" b="0">
                <a:solidFill>
                  <a:srgbClr val="57544E"/>
                </a:solidFill>
                <a:latin typeface="Calibri"/>
              </a:rPr>
              <a:t>El diagnóstico más útil no fue de código sino de recorrido: «el filtro vive fuera de la vista pero decide lo que la vista puede enseñar».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447" y="4626864"/>
            <a:ext cx="5181447" cy="141732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4764024"/>
            <a:ext cx="472424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i="0" b="1">
                <a:solidFill>
                  <a:srgbClr val="7A3B1E"/>
                </a:solidFill>
                <a:latin typeface="Calibri"/>
              </a:rPr>
              <a:t>LECCIÓN</a:t>
            </a:r>
          </a:p>
          <a:p>
            <a:pPr>
              <a:spcAft>
                <a:spcPts val="0"/>
              </a:spcAft>
            </a:pPr>
            <a:r>
              <a:rPr sz="1200" i="0" b="0">
                <a:solidFill>
                  <a:srgbClr val="57544E"/>
                </a:solidFill>
                <a:latin typeface="Calibri"/>
              </a:rPr>
              <a:t>La usabilidad no se deduce del código: se comprueba con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usuarios reales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 que llegan por el camino natural. Es el ciclo Planificar–Hacer–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Verificar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–Actuar que la UNE 178510 pone en el centro de la empresa turística inteligente, aplicado a la propia herramienta.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APORTACIONES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Principales aportaciones al sector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63624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900"/>
              </a:spcAft>
              <a:buChar char="•"/>
            </a:pPr>
            <a:r>
              <a:rPr sz="1450" i="0" b="1">
                <a:solidFill>
                  <a:srgbClr val="1C1B19"/>
                </a:solidFill>
                <a:latin typeface="Calibri"/>
              </a:rPr>
              <a:t>Importancia medida por impacto, no por frecuencia.</a:t>
            </a:r>
            <a:r>
              <a:rPr sz="1450" i="0" b="0">
                <a:solidFill>
                  <a:srgbClr val="57544E"/>
                </a:solidFill>
                <a:latin typeface="Calibri"/>
              </a:rPr>
              <a:t> Corrige un consejo que salía invertido con el método habitual: precio y organización pasan de «baja prioridad» a «concéntrese aquí».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450" i="0" b="1">
                <a:solidFill>
                  <a:srgbClr val="1C1B19"/>
                </a:solidFill>
                <a:latin typeface="Calibri"/>
              </a:rPr>
              <a:t>Un sistema de siete inteligencias operativo</a:t>
            </a:r>
            <a:r>
              <a:rPr sz="1450" i="0" b="0">
                <a:solidFill>
                  <a:srgbClr val="57544E"/>
                </a:solidFill>
                <a:latin typeface="Calibri"/>
              </a:rPr>
              <a:t>, con la de sostenibilidad como fuente propia, alimentado por fuentes públicas y con trazabilidad del origen de cada dato.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450" i="0" b="1">
                <a:solidFill>
                  <a:srgbClr val="1C1B19"/>
                </a:solidFill>
                <a:latin typeface="Calibri"/>
              </a:rPr>
              <a:t>Indicadores que el sector no tenía:</a:t>
            </a:r>
            <a:r>
              <a:rPr sz="1450" i="0" b="0">
                <a:solidFill>
                  <a:srgbClr val="57544E"/>
                </a:solidFill>
                <a:latin typeface="Calibri"/>
              </a:rPr>
              <a:t> tasa de respuesta a reseñas, accesibilidad digital y sensorial de las webs, accesibilidad en transporte público, demanda aérea no atendida, complementariedad con los cruceros.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450" i="0" b="1">
                <a:solidFill>
                  <a:srgbClr val="1C1B19"/>
                </a:solidFill>
                <a:latin typeface="Calibri"/>
              </a:rPr>
              <a:t>Competidores directos por bodega</a:t>
            </a:r>
            <a:r>
              <a:rPr sz="1450" i="0" b="0">
                <a:solidFill>
                  <a:srgbClr val="57544E"/>
                </a:solidFill>
                <a:latin typeface="Calibri"/>
              </a:rPr>
              <a:t> con un método publicado en 2026, y el reconocimiento explícito de cuándo no hay muestra para afirmarlo.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450" i="0" b="1">
                <a:solidFill>
                  <a:srgbClr val="1C1B19"/>
                </a:solidFill>
                <a:latin typeface="Calibri"/>
              </a:rPr>
              <a:t>Recomendaciones accionables con umbrales declarados</a:t>
            </a:r>
            <a:r>
              <a:rPr sz="1450" i="0" b="0">
                <a:solidFill>
                  <a:srgbClr val="57544E"/>
                </a:solidFill>
                <a:latin typeface="Calibri"/>
              </a:rPr>
              <a:t>, auditables y trazables hasta el dato que las justifica.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450" i="0" b="1">
                <a:solidFill>
                  <a:srgbClr val="1C1B19"/>
                </a:solidFill>
                <a:latin typeface="Calibri"/>
              </a:rPr>
              <a:t>Reproducibilidad como principio de diseño:</a:t>
            </a:r>
            <a:r>
              <a:rPr sz="1450" i="0" b="0">
                <a:solidFill>
                  <a:srgbClr val="57544E"/>
                </a:solidFill>
                <a:latin typeface="Calibri"/>
              </a:rPr>
              <a:t> código abierto en Python, sin licencias, sin textos generados por IA, depositable en RODIN y replicable en otras denominaciones de origen.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ENCAJE NORMATIVO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ENOLYTICS y la Empresa Turística Inteligente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Qué pide la UNE 178510:2023 en cada eje y qué aporta ya la plataforma. Referencias a apartados y al anexo A de indicadores.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36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12264"/>
          <a:ext cx="108173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846320"/>
                <a:gridCol w="459943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Eje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Qué pide la norma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Qué aporta ENOLYTICS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Gestión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Grado de satisfacción de clientes; número de quejas; tiempo de respuesta a quejas y reclamaciones (A.2)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Sentimiento por atributo e IPA; críticas de 1-2 ★ y tasa de respuesta del propietario por bodega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Innovación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Colaboraciones con universidades y centros; proyectos de I+D+i; documentar innovaciones (5.2, A.3)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Proyecto UCA-bodegas-Ruta; competidores directos y recomendaciones documentadas con su umbral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Sistemática de recopilación, análisis y explotación de datos para decidir (5.3 b); analítica avanzada (5.3 g); espacios de datos ETI-DTI (5.3 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El propio cuadro de mando; dos perfiles —bodega y destino— sobre los mismos datos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Accesibilidad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Web accesible para personas con discapacidad o mayores (5.4 d); informar de accesibilidad; formatos alternativos (A.5); transporte accesible (5.4 f)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Índice de accesibilidad digital; apoyo sensorial (0 de 38) y zoom bloqueado (12 de 38); accesibilidad en transporte público (88 %)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Sostenibilidad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Certificaciones de sostenibilidad; comunicación externa; transporte sostenible (5.5, A.6)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C1B19"/>
                          </a:solidFill>
                          <a:latin typeface="Calibri"/>
                        </a:rPr>
                        <a:t>Certificación FEV; auditoría de sostenibilidad comunicada en la web; distancia a estación y parada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85800" y="5358384"/>
            <a:ext cx="10820095" cy="1905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468112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B19"/>
                </a:solidFill>
                <a:latin typeface="Georgia"/>
              </a:rPr>
              <a:t>Anexo A.1: la ETI «debería reportar información al destino a través de una plataforma». ENOLYTICS es esa plataforma entre empresa y destino.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UNE 178510:2023, apartados 5.2 a 5.5 y anexo A (informativo). La correspondencia es una lectura del equipo, no una certificación.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Lo prometido y lo construido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Contraste entre los compromisos de la memoria y el estado del prototipo (auditoría interna de coherencia).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37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12264"/>
          <a:ext cx="1081735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920240"/>
                <a:gridCol w="533095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Compromiso de la memoria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Observación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Minería de textos y análisis de sentimiento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Cumplido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Léxico multilingüe + BERT multilingüe; 17.246 menciones anotadas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IPA · IPCA · DIPA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Cumplido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Con importancia por impacto (PRCA) y bandas de indiferencia calibradas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DIPCA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Requiere series competitivas por periodo con muestra suficiente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Modelado de temas (LDA / BERT)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Atributos por léxico; LDA explorado para gastronomía; pendiente como descubrimiento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Recomendaciones accionables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Cumplido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Motor con 14 reglas de destino y reglas por bodega, umbrales declarados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Simulaciones y proyecciones de escenarios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Cumplido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Simulador con cuatro palancas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Capacidad predictiva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Cumplido (valor añadido)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Conectividad aérea de Dataestur: búsquedas y reservas por fecha futura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Cuestionarios a bodegas y visitantes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Para indicadores sin fuente abierta (empleo, consumos, precios)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TripAdvisor y redes sociales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Corpus actual solo de Google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Power BI sobre Azure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Sustituido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Python + Streamlit, por reproducibilidad y coste; desviación documentada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PARTE II · CIERRE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Limitaciones y líneas futuras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63624"/>
            <a:ext cx="518144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3B1E"/>
                </a:solidFill>
                <a:latin typeface="Calibri"/>
              </a:rPr>
              <a:t>LIMITACIONES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9384"/>
            <a:ext cx="5181447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Sesgo de autoselección: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quien escribe reseñas no representa a quien visita.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Efecto techo: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75,9 % de puntuaciones máximas; limita Kano y cualquier método que necesite variación.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Proxies declarados: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afluencia mensual por volumen de reseñas; idioma como procedencia.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Fuente única de reseñas: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Google. TripAdvisor podría alterar resultados en el segmento internacional.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Indicadores de la Tabla 1 aún a cero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por falta de fuente abierta: empleo, consumos, precios verificados.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1563624"/>
            <a:ext cx="518144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3B1E"/>
                </a:solidFill>
                <a:latin typeface="Calibri"/>
              </a:rPr>
              <a:t>LÍNEAS FUTURAS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1929384"/>
            <a:ext cx="5181447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300" i="0" b="0">
                <a:solidFill>
                  <a:srgbClr val="57544E"/>
                </a:solidFill>
                <a:latin typeface="Calibri"/>
              </a:rPr>
              <a:t>Implementar el </a:t>
            </a:r>
            <a:r>
              <a:rPr sz="1300" i="0" b="1">
                <a:solidFill>
                  <a:srgbClr val="1C1B19"/>
                </a:solidFill>
                <a:latin typeface="Calibri"/>
              </a:rPr>
              <a:t>DIPCA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y completar el modelado de temas.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 i="0" b="0">
                <a:solidFill>
                  <a:srgbClr val="57544E"/>
                </a:solidFill>
                <a:latin typeface="Calibri"/>
              </a:rPr>
              <a:t>Incorporar </a:t>
            </a:r>
            <a:r>
              <a:rPr sz="1300" i="0" b="1">
                <a:solidFill>
                  <a:srgbClr val="1C1B19"/>
                </a:solidFill>
                <a:latin typeface="Calibri"/>
              </a:rPr>
              <a:t>TripAdvisor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y ampliar el léxico a portugués y neerlandés.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Cuestionarios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a bodegas y visitantes; verificación de precios con cada bodega.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 i="0" b="0">
                <a:solidFill>
                  <a:srgbClr val="57544E"/>
                </a:solidFill>
                <a:latin typeface="Calibri"/>
              </a:rPr>
              <a:t>Cruzar IPA con </a:t>
            </a:r>
            <a:r>
              <a:rPr sz="1300" i="0" b="1">
                <a:solidFill>
                  <a:srgbClr val="1C1B19"/>
                </a:solidFill>
                <a:latin typeface="Calibri"/>
              </a:rPr>
              <a:t>procedencia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(nacional / internacional) y análisis cross-cultural.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00" i="0" b="1">
                <a:solidFill>
                  <a:srgbClr val="1C1B19"/>
                </a:solidFill>
                <a:latin typeface="Calibri"/>
              </a:rPr>
              <a:t>TFG y TFM</a:t>
            </a:r>
            <a:r>
              <a:rPr sz="1300" i="0" b="0">
                <a:solidFill>
                  <a:srgbClr val="57544E"/>
                </a:solidFill>
                <a:latin typeface="Calibri"/>
              </a:rPr>
              <a:t> asociados: comparación con otras rutas, accesibilidad enoturística, Kano con fuentes de mayor varianza.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6793992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6793992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6793992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6793992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6EFE3"/>
                </a:solidFill>
                <a:latin typeface="Georgia"/>
              </a:rPr>
              <a:t>Gracias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9BEAC"/>
                </a:solidFill>
                <a:latin typeface="Calibri"/>
              </a:rPr>
              <a:t>Lo difícil no es conseguir los datos. Es saber qué preguntarles, y decir con claridad qué se puede afirmar y qué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BD98A"/>
                </a:solidFill>
                <a:latin typeface="Calibri"/>
              </a:rPr>
              <a:t>PLATAFORMA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EFE3"/>
                </a:solidFill>
                <a:latin typeface="Calibri"/>
              </a:rPr>
              <a:t>enolytics-feder-uca.streamlit.app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BD98A"/>
                </a:solidFill>
                <a:latin typeface="Calibri"/>
              </a:rPr>
              <a:t>CONTACTO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0352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6EFE3"/>
                </a:solidFill>
                <a:latin typeface="Calibri"/>
              </a:rPr>
              <a:t>inteligencia.turistica@gm.uca.es · Universidad de Cádiz · Proyecto FEDER Andalucía 2021-2027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6EFE3"/>
                </a:solidFill>
                <a:latin typeface="Calibri"/>
              </a:rPr>
              <a:t>ENOLYTICS · Universidad de Cádiz · Cursos de Verano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F6EFE3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